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bfbaa0e80e46d2" /><Relationship Type="http://schemas.openxmlformats.org/officeDocument/2006/relationships/extended-properties" Target="/docProps/app.xml" Id="Ree2ee2181c2342d8" /><Relationship Type="http://schemas.openxmlformats.org/officeDocument/2006/relationships/officeDocument" Target="/ppt/presentation.xml" Id="R1773b7c674fd4b91" /></Relationships>
</file>

<file path=ppt/presentation.xml><?xml version="1.0" encoding="utf-8"?>
<p:presentation xmlns:p="http://schemas.openxmlformats.org/presentationml/2006/main">
  <p:sldMasterIdLst>
    <p:sldMasterId xmlns:r="http://schemas.openxmlformats.org/officeDocument/2006/relationships" id="2147483648" r:id="Ra6fe1338a7a24a0e"/>
  </p:sldMasterIdLst>
  <p:notesMasterIdLst>
    <p:notesMasterId xmlns:r="http://schemas.openxmlformats.org/officeDocument/2006/relationships" r:id="R4120e6e6d5294198"/>
  </p:notesMasterIdLst>
  <p:sldIdLst>
    <p:sldId xmlns:r="http://schemas.openxmlformats.org/officeDocument/2006/relationships" id="256" r:id="R76fd8d764f73431c"/>
    <p:sldId xmlns:r="http://schemas.openxmlformats.org/officeDocument/2006/relationships" id="257" r:id="R0805d60b0f9c405d"/>
    <p:sldId xmlns:r="http://schemas.openxmlformats.org/officeDocument/2006/relationships" id="258" r:id="Rcfd7b06eeff04361"/>
    <p:sldId xmlns:r="http://schemas.openxmlformats.org/officeDocument/2006/relationships" id="259" r:id="R071eba9a23c640a6"/>
    <p:sldId xmlns:r="http://schemas.openxmlformats.org/officeDocument/2006/relationships" id="260" r:id="Rf57b44c33ae84daf"/>
    <p:sldId xmlns:r="http://schemas.openxmlformats.org/officeDocument/2006/relationships" id="261" r:id="R9b51d3ec3f724cdf"/>
    <p:sldId xmlns:r="http://schemas.openxmlformats.org/officeDocument/2006/relationships" id="262" r:id="Rbc04863fafd041f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dda6c6ad1274abf" /><Relationship Type="http://schemas.openxmlformats.org/officeDocument/2006/relationships/slideMaster" Target="/ppt/slideMasters/slideMaster1.xml" Id="Ra6fe1338a7a24a0e" /><Relationship Type="http://schemas.openxmlformats.org/officeDocument/2006/relationships/notesMaster" Target="/ppt/notesMasters/notesMaster1.xml" Id="R4120e6e6d5294198" /><Relationship Type="http://schemas.openxmlformats.org/officeDocument/2006/relationships/presProps" Target="/ppt/presProps.xml" Id="R62985ef772bb4f0c" /><Relationship Type="http://schemas.openxmlformats.org/officeDocument/2006/relationships/tableStyles" Target="/ppt/tableStyles.xml" Id="Rf305d7ad281a4d68" /><Relationship Type="http://schemas.openxmlformats.org/officeDocument/2006/relationships/slide" Target="/ppt/slides/slide1.xml" Id="R76fd8d764f73431c" /><Relationship Type="http://schemas.openxmlformats.org/officeDocument/2006/relationships/slide" Target="/ppt/slides/slide2.xml" Id="R0805d60b0f9c405d" /><Relationship Type="http://schemas.openxmlformats.org/officeDocument/2006/relationships/slide" Target="/ppt/slides/slide3.xml" Id="Rcfd7b06eeff04361" /><Relationship Type="http://schemas.openxmlformats.org/officeDocument/2006/relationships/slide" Target="/ppt/slides/slide4.xml" Id="R071eba9a23c640a6" /><Relationship Type="http://schemas.openxmlformats.org/officeDocument/2006/relationships/slide" Target="/ppt/slides/slide5.xml" Id="Rf57b44c33ae84daf" /><Relationship Type="http://schemas.openxmlformats.org/officeDocument/2006/relationships/slide" Target="/ppt/slides/slide6.xml" Id="R9b51d3ec3f724cdf" /><Relationship Type="http://schemas.openxmlformats.org/officeDocument/2006/relationships/slide" Target="/ppt/slides/slide7.xml" Id="Rbc04863fafd041f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c24b52f4fd24fc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7126a48119f4c04" /><Relationship Type="http://schemas.openxmlformats.org/officeDocument/2006/relationships/notesMaster" Target="/ppt/notesMasters/notesMaster1.xml" Id="Ree8b167c741b4288" /></Relationships>
</file>

<file path=ppt/notesSlides/_rels/notesSlide2.xml.rels>&#65279;<?xml version="1.0" encoding="utf-8"?><Relationships xmlns="http://schemas.openxmlformats.org/package/2006/relationships"><Relationship Type="http://schemas.openxmlformats.org/officeDocument/2006/relationships/slide" Target="/ppt/slides/slide2.xml" Id="R3fed49e02ce6481d" /><Relationship Type="http://schemas.openxmlformats.org/officeDocument/2006/relationships/notesMaster" Target="/ppt/notesMasters/notesMaster1.xml" Id="Rec847439b71845a1" /></Relationships>
</file>

<file path=ppt/notesSlides/_rels/notesSlide3.xml.rels>&#65279;<?xml version="1.0" encoding="utf-8"?><Relationships xmlns="http://schemas.openxmlformats.org/package/2006/relationships"><Relationship Type="http://schemas.openxmlformats.org/officeDocument/2006/relationships/slide" Target="/ppt/slides/slide3.xml" Id="R2649e71f6cf9459d" /><Relationship Type="http://schemas.openxmlformats.org/officeDocument/2006/relationships/notesMaster" Target="/ppt/notesMasters/notesMaster1.xml" Id="R9ecab8087f4b418a" /></Relationships>
</file>

<file path=ppt/notesSlides/_rels/notesSlide4.xml.rels>&#65279;<?xml version="1.0" encoding="utf-8"?><Relationships xmlns="http://schemas.openxmlformats.org/package/2006/relationships"><Relationship Type="http://schemas.openxmlformats.org/officeDocument/2006/relationships/slide" Target="/ppt/slides/slide4.xml" Id="Rf476056ddf3745a3" /><Relationship Type="http://schemas.openxmlformats.org/officeDocument/2006/relationships/notesMaster" Target="/ppt/notesMasters/notesMaster1.xml" Id="R57a1b00846124983" /></Relationships>
</file>

<file path=ppt/notesSlides/_rels/notesSlide5.xml.rels>&#65279;<?xml version="1.0" encoding="utf-8"?><Relationships xmlns="http://schemas.openxmlformats.org/package/2006/relationships"><Relationship Type="http://schemas.openxmlformats.org/officeDocument/2006/relationships/slide" Target="/ppt/slides/slide5.xml" Id="Rc99e966773114809" /><Relationship Type="http://schemas.openxmlformats.org/officeDocument/2006/relationships/notesMaster" Target="/ppt/notesMasters/notesMaster1.xml" Id="R4733f58f982c4f25" /></Relationships>
</file>

<file path=ppt/notesSlides/_rels/notesSlide6.xml.rels>&#65279;<?xml version="1.0" encoding="utf-8"?><Relationships xmlns="http://schemas.openxmlformats.org/package/2006/relationships"><Relationship Type="http://schemas.openxmlformats.org/officeDocument/2006/relationships/slide" Target="/ppt/slides/slide6.xml" Id="Raece61ddc7544444" /><Relationship Type="http://schemas.openxmlformats.org/officeDocument/2006/relationships/notesMaster" Target="/ppt/notesMasters/notesMaster1.xml" Id="Rca713c6cd3154065" /></Relationships>
</file>

<file path=ppt/notesSlides/_rels/notesSlide7.xml.rels>&#65279;<?xml version="1.0" encoding="utf-8"?><Relationships xmlns="http://schemas.openxmlformats.org/package/2006/relationships"><Relationship Type="http://schemas.openxmlformats.org/officeDocument/2006/relationships/slide" Target="/ppt/slides/slide7.xml" Id="R3b75bac878774154" /><Relationship Type="http://schemas.openxmlformats.org/officeDocument/2006/relationships/notesMaster" Target="/ppt/notesMasters/notesMaster1.xml" Id="Reb1ff087aff0403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project makes an Alma Analytics catalog understandable outside the Alma interface. A catalog file is really a bundle of XML objects: reports, saved columns, saved filters, dashboards, and related metadata. The parser turns that bundle into a set of inspectable, spreadsheet-friendly outputs while retaining the complete XML for deeper analysis. In the next five minutes, I’ll show the problem it solves, how the pipeline works, what the current example produces, and where human review fits before campus documentation is published.</a:t>
            </a:r>
          </a:p>
          <a:p xmlns:a="http://schemas.openxmlformats.org/drawingml/2006/main">
            <a:r>
              <a:t>[Sources]</a:t>
            </a:r>
          </a:p>
          <a:p xmlns:a="http://schemas.openxmlformats.org/drawingml/2006/main">
            <a:r>
              <a:t>- README.md — project purpose and documented workflow (local repository).</a:t>
            </a:r>
          </a:p>
          <a:p xmlns:a="http://schemas.openxmlformats.org/drawingml/2006/main">
            <a:r>
              <a:t>- data/examples/annual_stats_fy_2025_2026.catalog — representative source archive (local repository).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core problem is opacity. Inside Alma, a report may reference saved objects that live elsewhere in a shared catalog tree, and the underlying rules can be buried in nested XML. That makes it difficult to answer simple governance questions: Which objects exist? Which reports depend on which saved definitions? What does a filter or binned column actually do? The project starts by reading every object and aligning its XML with catalog metadata such as title, path, type, ownership, and timestamps. It preserves folder context, but excludes folder-only rows so the working dataset stays focused on executable or inspectable objects.</a:t>
            </a:r>
          </a:p>
          <a:p xmlns:a="http://schemas.openxmlformats.org/drawingml/2006/main">
            <a:r>
              <a:t>[Sources]</a:t>
            </a:r>
          </a:p>
          <a:p xmlns:a="http://schemas.openxmlformats.org/drawingml/2006/main">
            <a:r>
              <a:t>- README.md — shared extraction and catalog object tree sections.</a:t>
            </a:r>
          </a:p>
          <a:p xmlns:a="http://schemas.openxmlformats.org/drawingml/2006/main">
            <a:r>
              <a:t>- R/io/read_catalog_file.R and R/io/read_catalog_metadata.R — catalog/XML readers.</a:t>
            </a:r>
          </a:p>
          <a:p xmlns:a="http://schemas.openxmlformats.org/drawingml/2006/main">
            <a:r>
              <a:t>- documentation/images/catalog_object_tree.png — repository-generated hierarchy visual.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automated parser is intentionally a single pipeline with reusable stages. A command-line script or an optional RStudio file chooser selects a dot-catalog file. Shared extraction creates an RDS file containing metadata plus full XML, and a CSV summary without the large XML text. Inspection branches inventory metadata patterns and XML tags. The two main parsing branches then normalize columns and filters. Finally, the dependency exporter links reports to referenced saved columns and saved filters and records whether each target resolves inside the same extract. Branches are conditional, so catalogs without a relevant object type skip outputs they do not need.</a:t>
            </a:r>
          </a:p>
          <a:p xmlns:a="http://schemas.openxmlformats.org/drawingml/2006/main">
            <a:r>
              <a:t>[Sources]</a:t>
            </a:r>
          </a:p>
          <a:p xmlns:a="http://schemas.openxmlformats.org/drawingml/2006/main">
            <a:r>
              <a:t>- R/run_parsing_pipeline.R — orchestration and conditional branches.</a:t>
            </a:r>
          </a:p>
          <a:p xmlns:a="http://schemas.openxmlformats.org/drawingml/2006/main">
            <a:r>
              <a:t>- scripts/run_parsing_pipeline.R and scripts/choose_catalog_file_and_run_pipeline.R — entry points.</a:t>
            </a:r>
          </a:p>
          <a:p xmlns:a="http://schemas.openxmlformats.org/drawingml/2006/main">
            <a:r>
              <a:t>- documentation/images/run_parser_pipeline_diagram.png — repository-generated pipeline visual.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annual-statistics example shows the scale and the reason normalization matters. It contains 308 catalog objects. Parsing yields 761 column records and 315 filter records, including both report-embedded logic and standalone saved definitions. Those records expand into 903 column rules and 323 readable filter rules. The dependency table contains 450 distinct report-to-saved-object relationships. The largest expansion is the filter value list: 150,880 individual values are separated from long IN and NOT IN expressions. That keeps the main rule tables readable without discarding the detailed criteria needed for validation.</a:t>
            </a:r>
          </a:p>
          <a:p xmlns:a="http://schemas.openxmlformats.org/drawingml/2006/main">
            <a:r>
              <a:t>[Sources]</a:t>
            </a:r>
          </a:p>
          <a:p xmlns:a="http://schemas.openxmlformats.org/drawingml/2006/main">
            <a:r>
              <a:t>- output/catalog_extract_summary.csv, output/columns.csv, output/filters.csv, and output/report_dependencies.csv — observed row counts.</a:t>
            </a:r>
          </a:p>
          <a:p xmlns:a="http://schemas.openxmlformats.org/drawingml/2006/main">
            <a:r>
              <a:t>- output/column_rules.csv, output/filter_rules.csv, and output/filter_value_lists.csv — observed normalized-rule and value-list row counts.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key design choice is to preserve references instead of flattening everything. Report rows identify inline logic and references to saved objects. Standalone saved columns and saved filters remain in the outputs even when no report currently references them. When a report does reference a saved definition, the dependency export records the path and whether a matching object was found in the catalog. This makes unresolved references visible and avoids duplicating a saved rule into every consuming report. The same extract can also reveal explicit dashboard-to-page-to-report relationships, complementing the folder hierarchy with actual object references.</a:t>
            </a:r>
          </a:p>
          <a:p xmlns:a="http://schemas.openxmlformats.org/drawingml/2006/main">
            <a:r>
              <a:t>[Sources]</a:t>
            </a:r>
          </a:p>
          <a:p xmlns:a="http://schemas.openxmlformats.org/drawingml/2006/main">
            <a:r>
              <a:t>- README.md — column, filter, dependency, and dashboard relationship behavior.</a:t>
            </a:r>
          </a:p>
          <a:p xmlns:a="http://schemas.openxmlformats.org/drawingml/2006/main">
            <a:r>
              <a:t>- R/extract/extract_columns.R, R/extract/extract_filters.R, and R/export/export_report_dependencies.R — implementation.</a:t>
            </a:r>
          </a:p>
          <a:p xmlns:a="http://schemas.openxmlformats.org/drawingml/2006/main">
            <a:r>
              <a:t>- documentation/images/preparation_review_dashboard_relationships.png — repository-generated relationship visual.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automated parser stops at general-purpose evidence. Publication is a separate, reviewed workflow. A normalized workbook combines saved-column and filter rules with human-maintained fields such as domain, campus scope, review labels, explanations, and campus-specific selection. The publication exporter refreshes saved-column criterion text from the latest parser output, while preserving those manual decisions. It then creates one exclusions-documentation workbook for each worksheet whose name begins with UC. This boundary is deliberate: code handles repeatable extraction and formatting, while subject-matter reviewers remain responsible for classification and interpretation.</a:t>
            </a:r>
          </a:p>
          <a:p xmlns:a="http://schemas.openxmlformats.org/drawingml/2006/main">
            <a:r>
              <a:t>[Sources]</a:t>
            </a:r>
          </a:p>
          <a:p xmlns:a="http://schemas.openxmlformats.org/drawingml/2006/main">
            <a:r>
              <a:t>- README.md — reviewed publication workflow.</a:t>
            </a:r>
          </a:p>
          <a:p xmlns:a="http://schemas.openxmlformats.org/drawingml/2006/main">
            <a:r>
              <a:t>- scripts/export_documentation/export_exclusions_documentation.R — campus workbook publication logic.</a:t>
            </a:r>
          </a:p>
          <a:p xmlns:a="http://schemas.openxmlformats.org/drawingml/2006/main">
            <a:r>
              <a:t>- documentation/images/run_report_builder_pipeline_diagram.png — repository-generated publication workflow visual.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short, the project provides three durable capabilities. First, it preserves a faithful machine-readable extract of the catalog. Second, it translates column, filter, and dependency logic into tables that people can review and test. Third, it supports a controlled handoff from automated evidence to campus-specific documentation. The current base-R fixture assertions pass, providing a lightweight verification path even when the optional testthat package is unavailable. The practical next step is to run the parser on a new catalog, review unresolved references and normalized rules, and only then publish the campus workbooks.</a:t>
            </a:r>
          </a:p>
          <a:p xmlns:a="http://schemas.openxmlformats.org/drawingml/2006/main">
            <a:r>
              <a:t>[Sources]</a:t>
            </a:r>
          </a:p>
          <a:p xmlns:a="http://schemas.openxmlformats.org/drawingml/2006/main">
            <a:r>
              <a:t>- README.md — documented operating workflow and outputs.</a:t>
            </a:r>
          </a:p>
          <a:p xmlns:a="http://schemas.openxmlformats.org/drawingml/2006/main">
            <a:r>
              <a:t>- tests/testthat.R — fallback test runner; base-R fixture assertions observed passing on 2026-08-11.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7bd53feeedc4d0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65c30db50534a02" /><Relationship Type="http://schemas.openxmlformats.org/officeDocument/2006/relationships/slideLayout" Target="/ppt/slideLayouts/slideLayout1.xml" Id="R3503b665684e43c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503b665684e43c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46372f0d86c41d2" /><Relationship Type="http://schemas.openxmlformats.org/officeDocument/2006/relationships/notesSlide" Target="/ppt/notesSlides/notesSlide1.xml" Id="Rdfe4e85dbb80463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dafd5827be04ea1" /><Relationship Type="http://schemas.openxmlformats.org/officeDocument/2006/relationships/image" Target="/ppt/media/image.png" Id="R453ee5b777214fab" /><Relationship Type="http://schemas.openxmlformats.org/officeDocument/2006/relationships/notesSlide" Target="/ppt/notesSlides/notesSlide2.xml" Id="Rcaf69532870742d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4ef0342245743b8" /><Relationship Type="http://schemas.openxmlformats.org/officeDocument/2006/relationships/image" Target="/ppt/media/image2.png" Id="R197f88877f784656" /><Relationship Type="http://schemas.openxmlformats.org/officeDocument/2006/relationships/notesSlide" Target="/ppt/notesSlides/notesSlide3.xml" Id="R0471d8dc530949f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f2dff78253f4db4" /><Relationship Type="http://schemas.openxmlformats.org/officeDocument/2006/relationships/notesSlide" Target="/ppt/notesSlides/notesSlide4.xml" Id="Ra2003eba2c87493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268e2fe2432454e" /><Relationship Type="http://schemas.openxmlformats.org/officeDocument/2006/relationships/image" Target="/ppt/media/image3.png" Id="Redcdb894651a4d5c" /><Relationship Type="http://schemas.openxmlformats.org/officeDocument/2006/relationships/notesSlide" Target="/ppt/notesSlides/notesSlide5.xml" Id="R86a67aecf00d408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47c24d5f745499b" /><Relationship Type="http://schemas.openxmlformats.org/officeDocument/2006/relationships/image" Target="/ppt/media/image4.png" Id="R829d2828d9ab4a89" /><Relationship Type="http://schemas.openxmlformats.org/officeDocument/2006/relationships/notesSlide" Target="/ppt/notesSlides/notesSlide6.xml" Id="R003fd7b9957e43e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9bb2e3e39cb498f" /><Relationship Type="http://schemas.openxmlformats.org/officeDocument/2006/relationships/notesSlide" Target="/ppt/notesSlides/notesSlide7.xml" Id="R709d69c9bda441a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ver-eyebrow">
            <a:extLst xmlns:a="http://schemas.openxmlformats.org/drawingml/2006/main">
              <a:ext uri="{FF2B5EF4-FFF2-40B4-BE49-F238E27FC236}">
                <a16:creationId xmlns:a16="http://schemas.microsoft.com/office/drawing/2014/main" id="{57AE0D30-F36A-474F-993E-290C6FA69CE6}"/>
              </a:ext>
            </a:extLst>
          </p:cNvPr>
          <p:cNvSpPr>
            <a:spLocks xmlns:a="http://schemas.openxmlformats.org/drawingml/2006/main" noGrp="1"/>
          </p:cNvSpPr>
          <p:nvPr/>
        </p:nvSpPr>
        <p:spPr>
          <a:xfrm xmlns:a="http://schemas.openxmlformats.org/drawingml/2006/main">
            <a:off x="400050" y="400050"/>
            <a:ext cx="342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00" b="1">
                <a:solidFill>
                  <a:srgbClr val="3D8DFF"/>
                </a:solidFill>
                <a:latin typeface="Helvetica Neue"/>
                <a:ea typeface="Helvetica Neue"/>
                <a:cs typeface="Helvetica Neue"/>
              </a:defRPr>
            </a:pPr>
            <a:r>
              <a:rPr sz="1800" b="1">
                <a:solidFill>
                  <a:srgbClr val="3D8DFF"/>
                </a:solidFill>
                <a:latin typeface="Helvetica Neue"/>
                <a:ea typeface="Helvetica Neue"/>
                <a:cs typeface="Helvetica Neue"/>
              </a:rPr>
              <a:t>PROJECT OVERVIEW</a:t>
            </a:r>
          </a:p>
        </p:txBody>
      </p:sp>
      <p:sp>
        <p:nvSpPr>
          <p:cNvPr id="2" name="cover-title">
            <a:extLst xmlns:a="http://schemas.openxmlformats.org/drawingml/2006/main">
              <a:ext uri="{FF2B5EF4-FFF2-40B4-BE49-F238E27FC236}">
                <a16:creationId xmlns:a16="http://schemas.microsoft.com/office/drawing/2014/main" id="{40FA616F-2374-404F-A2EB-8C4F96EDB695}"/>
              </a:ext>
            </a:extLst>
          </p:cNvPr>
          <p:cNvSpPr>
            <a:spLocks xmlns:a="http://schemas.openxmlformats.org/drawingml/2006/main" noGrp="1"/>
          </p:cNvSpPr>
          <p:nvPr/>
        </p:nvSpPr>
        <p:spPr>
          <a:xfrm xmlns:a="http://schemas.openxmlformats.org/drawingml/2006/main">
            <a:off x="400050" y="1676400"/>
            <a:ext cx="9334500" cy="2266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90000"/>
              </a:lnSpc>
              <a:buNone/>
              <a:defRPr sz="6000" b="1">
                <a:solidFill>
                  <a:srgbClr val="111111"/>
                </a:solidFill>
                <a:latin typeface="Helvetica Neue"/>
                <a:ea typeface="Helvetica Neue"/>
                <a:cs typeface="Helvetica Neue"/>
              </a:defRPr>
            </a:pPr>
            <a:r>
              <a:rPr sz="6000" b="1">
                <a:solidFill>
                  <a:srgbClr val="111111"/>
                </a:solidFill>
                <a:latin typeface="Helvetica Neue"/>
                <a:ea typeface="Helvetica Neue"/>
                <a:cs typeface="Helvetica Neue"/>
              </a:rPr>
              <a:t>Alma Analytics</a:t>
            </a:r>
          </a:p>
          <a:p xmlns:a="http://schemas.openxmlformats.org/drawingml/2006/main">
            <a:pPr>
              <a:lnSpc>
                <a:spcPct val="90000"/>
              </a:lnSpc>
              <a:buNone/>
              <a:defRPr sz="6000" b="1">
                <a:solidFill>
                  <a:srgbClr val="111111"/>
                </a:solidFill>
                <a:latin typeface="Helvetica Neue"/>
                <a:ea typeface="Helvetica Neue"/>
                <a:cs typeface="Helvetica Neue"/>
              </a:defRPr>
            </a:pPr>
            <a:r>
              <a:rPr sz="6000" b="1">
                <a:solidFill>
                  <a:srgbClr val="111111"/>
                </a:solidFill>
                <a:latin typeface="Helvetica Neue"/>
                <a:ea typeface="Helvetica Neue"/>
                <a:cs typeface="Helvetica Neue"/>
              </a:rPr>
              <a:t>catalog file parser</a:t>
            </a:r>
          </a:p>
        </p:txBody>
      </p:sp>
      <p:sp>
        <p:nvSpPr>
          <p:cNvPr id="3" name="cover-subtitle">
            <a:extLst xmlns:a="http://schemas.openxmlformats.org/drawingml/2006/main">
              <a:ext uri="{FF2B5EF4-FFF2-40B4-BE49-F238E27FC236}">
                <a16:creationId xmlns:a16="http://schemas.microsoft.com/office/drawing/2014/main" id="{8DC35C69-1273-42BE-BCFB-656445B62B44}"/>
              </a:ext>
            </a:extLst>
          </p:cNvPr>
          <p:cNvSpPr>
            <a:spLocks xmlns:a="http://schemas.openxmlformats.org/drawingml/2006/main" noGrp="1"/>
          </p:cNvSpPr>
          <p:nvPr/>
        </p:nvSpPr>
        <p:spPr>
          <a:xfrm xmlns:a="http://schemas.openxmlformats.org/drawingml/2006/main">
            <a:off x="400050" y="4762500"/>
            <a:ext cx="7810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250">
                <a:solidFill>
                  <a:srgbClr val="565C65"/>
                </a:solidFill>
                <a:latin typeface="Helvetica Neue"/>
                <a:ea typeface="Helvetica Neue"/>
                <a:cs typeface="Helvetica Neue"/>
              </a:defRPr>
            </a:pPr>
            <a:r>
              <a:rPr sz="2250">
                <a:solidFill>
                  <a:srgbClr val="565C65"/>
                </a:solidFill>
                <a:latin typeface="Helvetica Neue"/>
                <a:ea typeface="Helvetica Neue"/>
                <a:cs typeface="Helvetica Neue"/>
              </a:rPr>
              <a:t>From opaque catalog XML to reviewable rules, dependencies, and campus documentation</a:t>
            </a:r>
          </a:p>
        </p:txBody>
      </p:sp>
      <p:sp>
        <p:nvSpPr>
          <p:cNvPr id="4" name="cover-accent">
            <a:extLst xmlns:a="http://schemas.openxmlformats.org/drawingml/2006/main">
              <a:ext uri="{FF2B5EF4-FFF2-40B4-BE49-F238E27FC236}">
                <a16:creationId xmlns:a16="http://schemas.microsoft.com/office/drawing/2014/main" id="{F3D6E3F0-7A41-4C00-89AF-B9F94F301055}"/>
              </a:ext>
            </a:extLst>
          </p:cNvPr>
          <p:cNvSpPr>
            <a:spLocks xmlns:a="http://schemas.openxmlformats.org/drawingml/2006/main" noGrp="1"/>
          </p:cNvSpPr>
          <p:nvPr/>
        </p:nvSpPr>
        <p:spPr>
          <a:xfrm xmlns:a="http://schemas.openxmlformats.org/drawingml/2006/main">
            <a:off x="10668000" y="0"/>
            <a:ext cx="1524000" cy="685800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5" name="cover-accent-strong">
            <a:extLst xmlns:a="http://schemas.openxmlformats.org/drawingml/2006/main">
              <a:ext uri="{FF2B5EF4-FFF2-40B4-BE49-F238E27FC236}">
                <a16:creationId xmlns:a16="http://schemas.microsoft.com/office/drawing/2014/main" id="{EA1FB189-337D-4996-81C7-6CA9EB65DB1A}"/>
              </a:ext>
            </a:extLst>
          </p:cNvPr>
          <p:cNvSpPr>
            <a:spLocks xmlns:a="http://schemas.openxmlformats.org/drawingml/2006/main" noGrp="1"/>
          </p:cNvSpPr>
          <p:nvPr/>
        </p:nvSpPr>
        <p:spPr>
          <a:xfrm xmlns:a="http://schemas.openxmlformats.org/drawingml/2006/main">
            <a:off x="11315700" y="0"/>
            <a:ext cx="876300" cy="685800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Tree>
    <p:extLst>
      <p:ext uri="{BB962C8B-B14F-4D97-AF65-F5344CB8AC3E}">
        <p14:creationId xmlns:p14="http://schemas.microsoft.com/office/powerpoint/2010/main" val="95696247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2-title">
            <a:extLst xmlns:a="http://schemas.openxmlformats.org/drawingml/2006/main">
              <a:ext uri="{FF2B5EF4-FFF2-40B4-BE49-F238E27FC236}">
                <a16:creationId xmlns:a16="http://schemas.microsoft.com/office/drawing/2014/main" id="{6BCD719B-8ED2-40CF-848E-27760280ED66}"/>
              </a:ext>
            </a:extLst>
          </p:cNvPr>
          <p:cNvSpPr>
            <a:spLocks xmlns:a="http://schemas.openxmlformats.org/drawingml/2006/main" noGrp="1"/>
          </p:cNvSpPr>
          <p:nvPr/>
        </p:nvSpPr>
        <p:spPr>
          <a:xfrm xmlns:a="http://schemas.openxmlformats.org/drawingml/2006/main">
            <a:off x="400050" y="304800"/>
            <a:ext cx="10953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3750" b="1">
                <a:solidFill>
                  <a:srgbClr val="111111"/>
                </a:solidFill>
                <a:latin typeface="Helvetica Neue"/>
                <a:ea typeface="Helvetica Neue"/>
                <a:cs typeface="Helvetica Neue"/>
              </a:defRPr>
            </a:pPr>
            <a:r>
              <a:rPr sz="3750" b="1">
                <a:solidFill>
                  <a:srgbClr val="111111"/>
                </a:solidFill>
                <a:latin typeface="Helvetica Neue"/>
                <a:ea typeface="Helvetica Neue"/>
                <a:cs typeface="Helvetica Neue"/>
              </a:rPr>
              <a:t>The parser makes hidden catalog logic inspectable</a:t>
            </a:r>
          </a:p>
        </p:txBody>
      </p:sp>
      <p:sp>
        <p:nvSpPr>
          <p:cNvPr id="2" name="slide-2-number">
            <a:extLst xmlns:a="http://schemas.openxmlformats.org/drawingml/2006/main">
              <a:ext uri="{FF2B5EF4-FFF2-40B4-BE49-F238E27FC236}">
                <a16:creationId xmlns:a16="http://schemas.microsoft.com/office/drawing/2014/main" id="{FDA34AE7-259C-44D6-8D07-2DE9FB5DADB1}"/>
              </a:ext>
            </a:extLst>
          </p:cNvPr>
          <p:cNvSpPr>
            <a:spLocks xmlns:a="http://schemas.openxmlformats.org/drawingml/2006/main" noGrp="1"/>
          </p:cNvSpPr>
          <p:nvPr/>
        </p:nvSpPr>
        <p:spPr>
          <a:xfrm xmlns:a="http://schemas.openxmlformats.org/drawingml/2006/main">
            <a:off x="11220450" y="6334125"/>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a:solidFill>
                  <a:srgbClr val="565C65"/>
                </a:solidFill>
                <a:latin typeface="Helvetica Neue"/>
                <a:ea typeface="Helvetica Neue"/>
                <a:cs typeface="Helvetica Neue"/>
              </a:defRPr>
            </a:pPr>
            <a:r>
              <a:rPr sz="1050">
                <a:solidFill>
                  <a:srgbClr val="565C65"/>
                </a:solidFill>
                <a:latin typeface="Helvetica Neue"/>
                <a:ea typeface="Helvetica Neue"/>
                <a:cs typeface="Helvetica Neue"/>
              </a:rPr>
              <a:t>02</a:t>
            </a:r>
          </a:p>
        </p:txBody>
      </p:sp>
      <p:sp>
        <p:nvSpPr>
          <p:cNvPr id="3" name="problem-lead">
            <a:extLst xmlns:a="http://schemas.openxmlformats.org/drawingml/2006/main">
              <a:ext uri="{FF2B5EF4-FFF2-40B4-BE49-F238E27FC236}">
                <a16:creationId xmlns:a16="http://schemas.microsoft.com/office/drawing/2014/main" id="{0301D71E-F7DB-4CEC-8919-602885FCC29A}"/>
              </a:ext>
            </a:extLst>
          </p:cNvPr>
          <p:cNvSpPr>
            <a:spLocks xmlns:a="http://schemas.openxmlformats.org/drawingml/2006/main" noGrp="1"/>
          </p:cNvSpPr>
          <p:nvPr/>
        </p:nvSpPr>
        <p:spPr>
          <a:xfrm xmlns:a="http://schemas.openxmlformats.org/drawingml/2006/main">
            <a:off x="400050" y="1714500"/>
            <a:ext cx="4953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250" b="1">
                <a:solidFill>
                  <a:srgbClr val="111111"/>
                </a:solidFill>
                <a:latin typeface="Helvetica Neue"/>
                <a:ea typeface="Helvetica Neue"/>
                <a:cs typeface="Helvetica Neue"/>
              </a:defRPr>
            </a:pPr>
            <a:r>
              <a:rPr sz="2250" b="1">
                <a:solidFill>
                  <a:srgbClr val="111111"/>
                </a:solidFill>
                <a:latin typeface="Helvetica Neue"/>
                <a:ea typeface="Helvetica Neue"/>
                <a:cs typeface="Helvetica Neue"/>
              </a:rPr>
              <a:t>Alma catalog files combine metadata, hierarchy, XML definitions, and cross-object references.</a:t>
            </a:r>
          </a:p>
        </p:txBody>
      </p:sp>
      <p:sp>
        <p:nvSpPr>
          <p:cNvPr id="4" name="problem-body">
            <a:extLst xmlns:a="http://schemas.openxmlformats.org/drawingml/2006/main">
              <a:ext uri="{FF2B5EF4-FFF2-40B4-BE49-F238E27FC236}">
                <a16:creationId xmlns:a16="http://schemas.microsoft.com/office/drawing/2014/main" id="{92415213-AA7E-4ABC-B1CB-453D801D669D}"/>
              </a:ext>
            </a:extLst>
          </p:cNvPr>
          <p:cNvSpPr>
            <a:spLocks xmlns:a="http://schemas.openxmlformats.org/drawingml/2006/main" noGrp="1"/>
          </p:cNvSpPr>
          <p:nvPr/>
        </p:nvSpPr>
        <p:spPr>
          <a:xfrm xmlns:a="http://schemas.openxmlformats.org/drawingml/2006/main">
            <a:off x="400050" y="3009900"/>
            <a:ext cx="4953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00">
                <a:solidFill>
                  <a:srgbClr val="565C65"/>
                </a:solidFill>
                <a:latin typeface="Helvetica Neue"/>
                <a:ea typeface="Helvetica Neue"/>
                <a:cs typeface="Helvetica Neue"/>
              </a:defRPr>
            </a:pPr>
            <a:r>
              <a:rPr sz="1800">
                <a:solidFill>
                  <a:srgbClr val="565C65"/>
                </a:solidFill>
                <a:latin typeface="Helvetica Neue"/>
                <a:ea typeface="Helvetica Neue"/>
                <a:cs typeface="Helvetica Neue"/>
              </a:rPr>
              <a:t>The project aligns each object’s XML with its title, path, type, ownership, and timestamps—then exposes the result in formats people can query and review.</a:t>
            </a:r>
          </a:p>
        </p:txBody>
      </p:sp>
      <p:sp>
        <p:nvSpPr>
          <p:cNvPr id="5" name="problem-callout">
            <a:extLst xmlns:a="http://schemas.openxmlformats.org/drawingml/2006/main">
              <a:ext uri="{FF2B5EF4-FFF2-40B4-BE49-F238E27FC236}">
                <a16:creationId xmlns:a16="http://schemas.microsoft.com/office/drawing/2014/main" id="{CE80CEA3-344B-4F84-BF97-F87379689D42}"/>
              </a:ext>
            </a:extLst>
          </p:cNvPr>
          <p:cNvSpPr>
            <a:spLocks xmlns:a="http://schemas.openxmlformats.org/drawingml/2006/main" noGrp="1"/>
          </p:cNvSpPr>
          <p:nvPr/>
        </p:nvSpPr>
        <p:spPr>
          <a:xfrm xmlns:a="http://schemas.openxmlformats.org/drawingml/2006/main">
            <a:off x="400050" y="5257800"/>
            <a:ext cx="4953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650" b="1">
                <a:solidFill>
                  <a:srgbClr val="3D8DFF"/>
                </a:solidFill>
                <a:latin typeface="Helvetica Neue"/>
                <a:ea typeface="Helvetica Neue"/>
                <a:cs typeface="Helvetica Neue"/>
              </a:defRPr>
            </a:pPr>
            <a:r>
              <a:rPr sz="1650" b="1">
                <a:solidFill>
                  <a:srgbClr val="3D8DFF"/>
                </a:solidFill>
                <a:latin typeface="Helvetica Neue"/>
                <a:ea typeface="Helvetica Neue"/>
                <a:cs typeface="Helvetica Neue"/>
              </a:rPr>
              <a:t>Folder context is preserved; folder-only metadata is excluded.</a:t>
            </a:r>
          </a:p>
        </p:txBody>
      </p:sp>
      <p:sp>
        <p:nvSpPr>
          <p:cNvPr id="6" name="tree-backing">
            <a:extLst xmlns:a="http://schemas.openxmlformats.org/drawingml/2006/main">
              <a:ext uri="{FF2B5EF4-FFF2-40B4-BE49-F238E27FC236}">
                <a16:creationId xmlns:a16="http://schemas.microsoft.com/office/drawing/2014/main" id="{7B0F0F29-9D58-4B5C-958A-4FC0CD4F7191}"/>
              </a:ext>
            </a:extLst>
          </p:cNvPr>
          <p:cNvSpPr>
            <a:spLocks xmlns:a="http://schemas.openxmlformats.org/drawingml/2006/main" noGrp="1"/>
          </p:cNvSpPr>
          <p:nvPr/>
        </p:nvSpPr>
        <p:spPr>
          <a:xfrm xmlns:a="http://schemas.openxmlformats.org/drawingml/2006/main">
            <a:off x="6191250" y="1352550"/>
            <a:ext cx="5619750" cy="4667250"/>
          </a:xfrm>
          <a:prstGeom xmlns:a="http://schemas.openxmlformats.org/drawingml/2006/main" prst="rect">
            <a:avLst/>
          </a:prstGeom>
          <a:solidFill xmlns:a="http://schemas.openxmlformats.org/drawingml/2006/main">
            <a:srgbClr val="F7F7F7"/>
          </a:solidFill>
          <a:ln xmlns:a="http://schemas.openxmlformats.org/drawingml/2006/main" w="9525">
            <a:solidFill>
              <a:srgbClr val="B8BCC4"/>
            </a:solidFill>
            <a:prstDash val="solid"/>
          </a:ln>
        </p:spPr>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453ee5b777214fab"/>
          <a:stretch xmlns:a="http://schemas.openxmlformats.org/drawingml/2006/main"/>
        </p:blipFill>
        <p:spPr>
          <a:xfrm xmlns:a="http://schemas.openxmlformats.org/drawingml/2006/main">
            <a:off x="6849496" y="1495425"/>
            <a:ext cx="4303259" cy="4381500"/>
          </a:xfrm>
          <a:prstGeom xmlns:a="http://schemas.openxmlformats.org/drawingml/2006/main" prst="rect">
            <a:avLst/>
          </a:prstGeom>
        </p:spPr>
      </p:pic>
    </p:spTree>
    <p:extLst>
      <p:ext uri="{BB962C8B-B14F-4D97-AF65-F5344CB8AC3E}">
        <p14:creationId xmlns:p14="http://schemas.microsoft.com/office/powerpoint/2010/main" val="68149597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3-title">
            <a:extLst xmlns:a="http://schemas.openxmlformats.org/drawingml/2006/main">
              <a:ext uri="{FF2B5EF4-FFF2-40B4-BE49-F238E27FC236}">
                <a16:creationId xmlns:a16="http://schemas.microsoft.com/office/drawing/2014/main" id="{9D6A29F3-F707-42FA-A18F-1C6CB8C5ABC8}"/>
              </a:ext>
            </a:extLst>
          </p:cNvPr>
          <p:cNvSpPr>
            <a:spLocks xmlns:a="http://schemas.openxmlformats.org/drawingml/2006/main" noGrp="1"/>
          </p:cNvSpPr>
          <p:nvPr/>
        </p:nvSpPr>
        <p:spPr>
          <a:xfrm xmlns:a="http://schemas.openxmlformats.org/drawingml/2006/main">
            <a:off x="400050" y="304800"/>
            <a:ext cx="10953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3750" b="1">
                <a:solidFill>
                  <a:srgbClr val="111111"/>
                </a:solidFill>
                <a:latin typeface="Helvetica Neue"/>
                <a:ea typeface="Helvetica Neue"/>
                <a:cs typeface="Helvetica Neue"/>
              </a:defRPr>
            </a:pPr>
            <a:r>
              <a:rPr sz="3750" b="1">
                <a:solidFill>
                  <a:srgbClr val="111111"/>
                </a:solidFill>
                <a:latin typeface="Helvetica Neue"/>
                <a:ea typeface="Helvetica Neue"/>
                <a:cs typeface="Helvetica Neue"/>
              </a:rPr>
              <a:t>One command runs the parsing pipeline</a:t>
            </a:r>
          </a:p>
        </p:txBody>
      </p:sp>
      <p:sp>
        <p:nvSpPr>
          <p:cNvPr id="2" name="slide-3-number">
            <a:extLst xmlns:a="http://schemas.openxmlformats.org/drawingml/2006/main">
              <a:ext uri="{FF2B5EF4-FFF2-40B4-BE49-F238E27FC236}">
                <a16:creationId xmlns:a16="http://schemas.microsoft.com/office/drawing/2014/main" id="{BA4AB724-A260-4820-A6CA-9A4AFB000AE3}"/>
              </a:ext>
            </a:extLst>
          </p:cNvPr>
          <p:cNvSpPr>
            <a:spLocks xmlns:a="http://schemas.openxmlformats.org/drawingml/2006/main" noGrp="1"/>
          </p:cNvSpPr>
          <p:nvPr/>
        </p:nvSpPr>
        <p:spPr>
          <a:xfrm xmlns:a="http://schemas.openxmlformats.org/drawingml/2006/main">
            <a:off x="11220450" y="6334125"/>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a:solidFill>
                  <a:srgbClr val="565C65"/>
                </a:solidFill>
                <a:latin typeface="Helvetica Neue"/>
                <a:ea typeface="Helvetica Neue"/>
                <a:cs typeface="Helvetica Neue"/>
              </a:defRPr>
            </a:pPr>
            <a:r>
              <a:rPr sz="1050">
                <a:solidFill>
                  <a:srgbClr val="565C65"/>
                </a:solidFill>
                <a:latin typeface="Helvetica Neue"/>
                <a:ea typeface="Helvetica Neue"/>
                <a:cs typeface="Helvetica Neue"/>
              </a:rPr>
              <a:t>03</a:t>
            </a:r>
          </a:p>
        </p:txBody>
      </p:sp>
      <p:sp>
        <p:nvSpPr>
          <p:cNvPr id="3" name="pipeline-backing">
            <a:extLst xmlns:a="http://schemas.openxmlformats.org/drawingml/2006/main">
              <a:ext uri="{FF2B5EF4-FFF2-40B4-BE49-F238E27FC236}">
                <a16:creationId xmlns:a16="http://schemas.microsoft.com/office/drawing/2014/main" id="{5C05A30B-09DB-4642-B252-047B07421574}"/>
              </a:ext>
            </a:extLst>
          </p:cNvPr>
          <p:cNvSpPr>
            <a:spLocks xmlns:a="http://schemas.openxmlformats.org/drawingml/2006/main" noGrp="1"/>
          </p:cNvSpPr>
          <p:nvPr/>
        </p:nvSpPr>
        <p:spPr>
          <a:xfrm xmlns:a="http://schemas.openxmlformats.org/drawingml/2006/main">
            <a:off x="400050" y="1333500"/>
            <a:ext cx="8858250" cy="4762500"/>
          </a:xfrm>
          <a:prstGeom xmlns:a="http://schemas.openxmlformats.org/drawingml/2006/main" prst="rect">
            <a:avLst/>
          </a:prstGeom>
          <a:solidFill xmlns:a="http://schemas.openxmlformats.org/drawingml/2006/main">
            <a:srgbClr val="FAFAFA"/>
          </a:solidFill>
          <a:ln xmlns:a="http://schemas.openxmlformats.org/drawingml/2006/main" w="9525">
            <a:solidFill>
              <a:srgbClr val="B8BCC4"/>
            </a:solidFill>
            <a:prstDash val="solid"/>
          </a:ln>
        </p:spPr>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97f88877f784656"/>
          <a:stretch xmlns:a="http://schemas.openxmlformats.org/drawingml/2006/main"/>
        </p:blipFill>
        <p:spPr>
          <a:xfrm xmlns:a="http://schemas.openxmlformats.org/drawingml/2006/main">
            <a:off x="1066800" y="1447800"/>
            <a:ext cx="7524750" cy="4514850"/>
          </a:xfrm>
          <a:prstGeom xmlns:a="http://schemas.openxmlformats.org/drawingml/2006/main" prst="rect">
            <a:avLst/>
          </a:prstGeom>
        </p:spPr>
      </p:pic>
      <p:sp>
        <p:nvSpPr>
          <p:cNvPr id="5" name="rail-1-title">
            <a:extLst xmlns:a="http://schemas.openxmlformats.org/drawingml/2006/main">
              <a:ext uri="{FF2B5EF4-FFF2-40B4-BE49-F238E27FC236}">
                <a16:creationId xmlns:a16="http://schemas.microsoft.com/office/drawing/2014/main" id="{5C77F90D-7307-4383-878D-1C52C719F7C9}"/>
              </a:ext>
            </a:extLst>
          </p:cNvPr>
          <p:cNvSpPr>
            <a:spLocks xmlns:a="http://schemas.openxmlformats.org/drawingml/2006/main" noGrp="1"/>
          </p:cNvSpPr>
          <p:nvPr/>
        </p:nvSpPr>
        <p:spPr>
          <a:xfrm xmlns:a="http://schemas.openxmlformats.org/drawingml/2006/main">
            <a:off x="9544050" y="160020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Shared extract</a:t>
            </a:r>
          </a:p>
        </p:txBody>
      </p:sp>
      <p:sp>
        <p:nvSpPr>
          <p:cNvPr id="6" name="rail-1-body">
            <a:extLst xmlns:a="http://schemas.openxmlformats.org/drawingml/2006/main">
              <a:ext uri="{FF2B5EF4-FFF2-40B4-BE49-F238E27FC236}">
                <a16:creationId xmlns:a16="http://schemas.microsoft.com/office/drawing/2014/main" id="{BAA534AE-D4CE-47A4-9D5E-D98CF9450087}"/>
              </a:ext>
            </a:extLst>
          </p:cNvPr>
          <p:cNvSpPr>
            <a:spLocks xmlns:a="http://schemas.openxmlformats.org/drawingml/2006/main" noGrp="1"/>
          </p:cNvSpPr>
          <p:nvPr/>
        </p:nvSpPr>
        <p:spPr>
          <a:xfrm xmlns:a="http://schemas.openxmlformats.org/drawingml/2006/main">
            <a:off x="9544050" y="2019300"/>
            <a:ext cx="2190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Metadata + full XML become the foundation for every branch.</a:t>
            </a:r>
          </a:p>
        </p:txBody>
      </p:sp>
      <p:sp>
        <p:nvSpPr>
          <p:cNvPr id="7" name="rule-1002-320">
            <a:extLst xmlns:a="http://schemas.openxmlformats.org/drawingml/2006/main">
              <a:ext uri="{FF2B5EF4-FFF2-40B4-BE49-F238E27FC236}">
                <a16:creationId xmlns:a16="http://schemas.microsoft.com/office/drawing/2014/main" id="{DA7590EF-9C12-45D0-A798-85CEF4DA7ADB}"/>
              </a:ext>
            </a:extLst>
          </p:cNvPr>
          <p:cNvSpPr>
            <a:spLocks xmlns:a="http://schemas.openxmlformats.org/drawingml/2006/main" noGrp="1"/>
          </p:cNvSpPr>
          <p:nvPr/>
        </p:nvSpPr>
        <p:spPr>
          <a:xfrm xmlns:a="http://schemas.openxmlformats.org/drawingml/2006/main">
            <a:off x="9544050" y="3048000"/>
            <a:ext cx="2190750" cy="3810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8" name="rail-2-title">
            <a:extLst xmlns:a="http://schemas.openxmlformats.org/drawingml/2006/main">
              <a:ext uri="{FF2B5EF4-FFF2-40B4-BE49-F238E27FC236}">
                <a16:creationId xmlns:a16="http://schemas.microsoft.com/office/drawing/2014/main" id="{E93BE9FB-8362-4F82-AB62-D48FDA235373}"/>
              </a:ext>
            </a:extLst>
          </p:cNvPr>
          <p:cNvSpPr>
            <a:spLocks xmlns:a="http://schemas.openxmlformats.org/drawingml/2006/main" noGrp="1"/>
          </p:cNvSpPr>
          <p:nvPr/>
        </p:nvSpPr>
        <p:spPr>
          <a:xfrm xmlns:a="http://schemas.openxmlformats.org/drawingml/2006/main">
            <a:off x="9544050" y="33337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Conditional</a:t>
            </a:r>
          </a:p>
        </p:txBody>
      </p:sp>
      <p:sp>
        <p:nvSpPr>
          <p:cNvPr id="9" name="rail-2-body">
            <a:extLst xmlns:a="http://schemas.openxmlformats.org/drawingml/2006/main">
              <a:ext uri="{FF2B5EF4-FFF2-40B4-BE49-F238E27FC236}">
                <a16:creationId xmlns:a16="http://schemas.microsoft.com/office/drawing/2014/main" id="{CBA4B35D-685F-4AC0-A293-8784D11B93FF}"/>
              </a:ext>
            </a:extLst>
          </p:cNvPr>
          <p:cNvSpPr>
            <a:spLocks xmlns:a="http://schemas.openxmlformats.org/drawingml/2006/main" noGrp="1"/>
          </p:cNvSpPr>
          <p:nvPr/>
        </p:nvSpPr>
        <p:spPr>
          <a:xfrm xmlns:a="http://schemas.openxmlformats.org/drawingml/2006/main">
            <a:off x="9544050" y="3752850"/>
            <a:ext cx="2190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Columns, filters, and dependencies run only when relevant objects are present.</a:t>
            </a:r>
          </a:p>
        </p:txBody>
      </p:sp>
      <p:sp>
        <p:nvSpPr>
          <p:cNvPr id="10" name="rail-callout">
            <a:extLst xmlns:a="http://schemas.openxmlformats.org/drawingml/2006/main">
              <a:ext uri="{FF2B5EF4-FFF2-40B4-BE49-F238E27FC236}">
                <a16:creationId xmlns:a16="http://schemas.microsoft.com/office/drawing/2014/main" id="{C96BD8A6-9A1A-4893-9570-05057B8151C4}"/>
              </a:ext>
            </a:extLst>
          </p:cNvPr>
          <p:cNvSpPr>
            <a:spLocks xmlns:a="http://schemas.openxmlformats.org/drawingml/2006/main" noGrp="1"/>
          </p:cNvSpPr>
          <p:nvPr/>
        </p:nvSpPr>
        <p:spPr>
          <a:xfrm xmlns:a="http://schemas.openxmlformats.org/drawingml/2006/main">
            <a:off x="9544050" y="53911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3D8DFF"/>
                </a:solidFill>
                <a:latin typeface="Helvetica Neue"/>
                <a:ea typeface="Helvetica Neue"/>
                <a:cs typeface="Helvetica Neue"/>
              </a:defRPr>
            </a:pPr>
            <a:r>
              <a:rPr sz="1500" b="1">
                <a:solidFill>
                  <a:srgbClr val="3D8DFF"/>
                </a:solidFill>
                <a:latin typeface="Helvetica Neue"/>
                <a:ea typeface="Helvetica Neue"/>
                <a:cs typeface="Helvetica Neue"/>
              </a:rPr>
              <a:t>CLI + optional RStudio chooser</a:t>
            </a:r>
          </a:p>
        </p:txBody>
      </p:sp>
    </p:spTree>
    <p:extLst>
      <p:ext uri="{BB962C8B-B14F-4D97-AF65-F5344CB8AC3E}">
        <p14:creationId xmlns:p14="http://schemas.microsoft.com/office/powerpoint/2010/main" val="208256585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slide-4-title">
            <a:extLst xmlns:a="http://schemas.openxmlformats.org/drawingml/2006/main">
              <a:ext uri="{FF2B5EF4-FFF2-40B4-BE49-F238E27FC236}">
                <a16:creationId xmlns:a16="http://schemas.microsoft.com/office/drawing/2014/main" id="{7287813D-A5B7-4568-98CE-86273479430E}"/>
              </a:ext>
            </a:extLst>
          </p:cNvPr>
          <p:cNvSpPr>
            <a:spLocks xmlns:a="http://schemas.openxmlformats.org/drawingml/2006/main" noGrp="1"/>
          </p:cNvSpPr>
          <p:nvPr/>
        </p:nvSpPr>
        <p:spPr>
          <a:xfrm xmlns:a="http://schemas.openxmlformats.org/drawingml/2006/main">
            <a:off x="400050" y="304800"/>
            <a:ext cx="10953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3750" b="1">
                <a:solidFill>
                  <a:srgbClr val="111111"/>
                </a:solidFill>
                <a:latin typeface="Helvetica Neue"/>
                <a:ea typeface="Helvetica Neue"/>
                <a:cs typeface="Helvetica Neue"/>
              </a:defRPr>
            </a:pPr>
            <a:r>
              <a:rPr sz="3750" b="1">
                <a:solidFill>
                  <a:srgbClr val="111111"/>
                </a:solidFill>
                <a:latin typeface="Helvetica Neue"/>
                <a:ea typeface="Helvetica Neue"/>
                <a:cs typeface="Helvetica Neue"/>
              </a:rPr>
              <a:t>The example catalog expands into evidence at several levels</a:t>
            </a:r>
          </a:p>
        </p:txBody>
      </p:sp>
      <p:sp>
        <p:nvSpPr>
          <p:cNvPr id="2" name="slide-4-number">
            <a:extLst xmlns:a="http://schemas.openxmlformats.org/drawingml/2006/main">
              <a:ext uri="{FF2B5EF4-FFF2-40B4-BE49-F238E27FC236}">
                <a16:creationId xmlns:a16="http://schemas.microsoft.com/office/drawing/2014/main" id="{E6F3C0D0-B8BC-40B6-A6E9-C0F38C5167DE}"/>
              </a:ext>
            </a:extLst>
          </p:cNvPr>
          <p:cNvSpPr>
            <a:spLocks xmlns:a="http://schemas.openxmlformats.org/drawingml/2006/main" noGrp="1"/>
          </p:cNvSpPr>
          <p:nvPr/>
        </p:nvSpPr>
        <p:spPr>
          <a:xfrm xmlns:a="http://schemas.openxmlformats.org/drawingml/2006/main">
            <a:off x="11220450" y="6334125"/>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a:solidFill>
                  <a:srgbClr val="565C65"/>
                </a:solidFill>
                <a:latin typeface="Helvetica Neue"/>
                <a:ea typeface="Helvetica Neue"/>
                <a:cs typeface="Helvetica Neue"/>
              </a:defRPr>
            </a:pPr>
            <a:r>
              <a:rPr sz="1050">
                <a:solidFill>
                  <a:srgbClr val="565C65"/>
                </a:solidFill>
                <a:latin typeface="Helvetica Neue"/>
                <a:ea typeface="Helvetica Neue"/>
                <a:cs typeface="Helvetica Neue"/>
              </a:rPr>
              <a:t>04</a:t>
            </a:r>
          </a:p>
        </p:txBody>
      </p:sp>
      <p:sp>
        <p:nvSpPr>
          <p:cNvPr id="3" name="metric-0-value">
            <a:extLst xmlns:a="http://schemas.openxmlformats.org/drawingml/2006/main">
              <a:ext uri="{FF2B5EF4-FFF2-40B4-BE49-F238E27FC236}">
                <a16:creationId xmlns:a16="http://schemas.microsoft.com/office/drawing/2014/main" id="{3E83D4FB-4A3F-4415-8883-0BE33E56B41A}"/>
              </a:ext>
            </a:extLst>
          </p:cNvPr>
          <p:cNvSpPr>
            <a:spLocks xmlns:a="http://schemas.openxmlformats.org/drawingml/2006/main" noGrp="1"/>
          </p:cNvSpPr>
          <p:nvPr/>
        </p:nvSpPr>
        <p:spPr>
          <a:xfrm xmlns:a="http://schemas.openxmlformats.org/drawingml/2006/main">
            <a:off x="400050" y="1714500"/>
            <a:ext cx="238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5400" b="1">
                <a:solidFill>
                  <a:srgbClr val="111111"/>
                </a:solidFill>
                <a:latin typeface="Helvetica Neue"/>
                <a:ea typeface="Helvetica Neue"/>
                <a:cs typeface="Helvetica Neue"/>
              </a:defRPr>
            </a:pPr>
            <a:r>
              <a:rPr sz="5400" b="1">
                <a:solidFill>
                  <a:srgbClr val="111111"/>
                </a:solidFill>
                <a:latin typeface="Helvetica Neue"/>
                <a:ea typeface="Helvetica Neue"/>
                <a:cs typeface="Helvetica Neue"/>
              </a:rPr>
              <a:t>308</a:t>
            </a:r>
          </a:p>
        </p:txBody>
      </p:sp>
      <p:sp>
        <p:nvSpPr>
          <p:cNvPr id="4" name="metric-0-label">
            <a:extLst xmlns:a="http://schemas.openxmlformats.org/drawingml/2006/main">
              <a:ext uri="{FF2B5EF4-FFF2-40B4-BE49-F238E27FC236}">
                <a16:creationId xmlns:a16="http://schemas.microsoft.com/office/drawing/2014/main" id="{A50796BA-17C2-4C52-B6CD-3FDBD6289C09}"/>
              </a:ext>
            </a:extLst>
          </p:cNvPr>
          <p:cNvSpPr>
            <a:spLocks xmlns:a="http://schemas.openxmlformats.org/drawingml/2006/main" noGrp="1"/>
          </p:cNvSpPr>
          <p:nvPr/>
        </p:nvSpPr>
        <p:spPr>
          <a:xfrm xmlns:a="http://schemas.openxmlformats.org/drawingml/2006/main">
            <a:off x="400050" y="272415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catalog objects</a:t>
            </a:r>
          </a:p>
        </p:txBody>
      </p:sp>
      <p:sp>
        <p:nvSpPr>
          <p:cNvPr id="5" name="metric-0-body">
            <a:extLst xmlns:a="http://schemas.openxmlformats.org/drawingml/2006/main">
              <a:ext uri="{FF2B5EF4-FFF2-40B4-BE49-F238E27FC236}">
                <a16:creationId xmlns:a16="http://schemas.microsoft.com/office/drawing/2014/main" id="{42EA4D3D-C262-4208-85AE-8E011D592066}"/>
              </a:ext>
            </a:extLst>
          </p:cNvPr>
          <p:cNvSpPr>
            <a:spLocks xmlns:a="http://schemas.openxmlformats.org/drawingml/2006/main" noGrp="1"/>
          </p:cNvSpPr>
          <p:nvPr/>
        </p:nvSpPr>
        <p:spPr>
          <a:xfrm xmlns:a="http://schemas.openxmlformats.org/drawingml/2006/main">
            <a:off x="400050" y="3333750"/>
            <a:ext cx="23812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Reports, saved objects, dashboards, and other XML-backed items</a:t>
            </a:r>
          </a:p>
        </p:txBody>
      </p:sp>
      <p:sp>
        <p:nvSpPr>
          <p:cNvPr id="6" name="rule-320-170">
            <a:extLst xmlns:a="http://schemas.openxmlformats.org/drawingml/2006/main">
              <a:ext uri="{FF2B5EF4-FFF2-40B4-BE49-F238E27FC236}">
                <a16:creationId xmlns:a16="http://schemas.microsoft.com/office/drawing/2014/main" id="{34F919D5-2FE7-4927-8975-583539BA7511}"/>
              </a:ext>
            </a:extLst>
          </p:cNvPr>
          <p:cNvSpPr>
            <a:spLocks xmlns:a="http://schemas.openxmlformats.org/drawingml/2006/main" noGrp="1"/>
          </p:cNvSpPr>
          <p:nvPr/>
        </p:nvSpPr>
        <p:spPr>
          <a:xfrm xmlns:a="http://schemas.openxmlformats.org/drawingml/2006/main">
            <a:off x="3048000" y="1619250"/>
            <a:ext cx="19050" cy="342900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7" name="metric-1-value">
            <a:extLst xmlns:a="http://schemas.openxmlformats.org/drawingml/2006/main">
              <a:ext uri="{FF2B5EF4-FFF2-40B4-BE49-F238E27FC236}">
                <a16:creationId xmlns:a16="http://schemas.microsoft.com/office/drawing/2014/main" id="{14D1ABF8-29E1-42C4-9B64-C942E78E976F}"/>
              </a:ext>
            </a:extLst>
          </p:cNvPr>
          <p:cNvSpPr>
            <a:spLocks xmlns:a="http://schemas.openxmlformats.org/drawingml/2006/main" noGrp="1"/>
          </p:cNvSpPr>
          <p:nvPr/>
        </p:nvSpPr>
        <p:spPr>
          <a:xfrm xmlns:a="http://schemas.openxmlformats.org/drawingml/2006/main">
            <a:off x="3276600" y="1714500"/>
            <a:ext cx="238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5400" b="1">
                <a:solidFill>
                  <a:srgbClr val="111111"/>
                </a:solidFill>
                <a:latin typeface="Helvetica Neue"/>
                <a:ea typeface="Helvetica Neue"/>
                <a:cs typeface="Helvetica Neue"/>
              </a:defRPr>
            </a:pPr>
            <a:r>
              <a:rPr sz="5400" b="1">
                <a:solidFill>
                  <a:srgbClr val="111111"/>
                </a:solidFill>
                <a:latin typeface="Helvetica Neue"/>
                <a:ea typeface="Helvetica Neue"/>
                <a:cs typeface="Helvetica Neue"/>
              </a:rPr>
              <a:t>761</a:t>
            </a:r>
          </a:p>
        </p:txBody>
      </p:sp>
      <p:sp>
        <p:nvSpPr>
          <p:cNvPr id="8" name="metric-1-label">
            <a:extLst xmlns:a="http://schemas.openxmlformats.org/drawingml/2006/main">
              <a:ext uri="{FF2B5EF4-FFF2-40B4-BE49-F238E27FC236}">
                <a16:creationId xmlns:a16="http://schemas.microsoft.com/office/drawing/2014/main" id="{3D97125E-3AF9-46F1-90C1-722BC22B6840}"/>
              </a:ext>
            </a:extLst>
          </p:cNvPr>
          <p:cNvSpPr>
            <a:spLocks xmlns:a="http://schemas.openxmlformats.org/drawingml/2006/main" noGrp="1"/>
          </p:cNvSpPr>
          <p:nvPr/>
        </p:nvSpPr>
        <p:spPr>
          <a:xfrm xmlns:a="http://schemas.openxmlformats.org/drawingml/2006/main">
            <a:off x="3276600" y="272415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column records</a:t>
            </a:r>
          </a:p>
        </p:txBody>
      </p:sp>
      <p:sp>
        <p:nvSpPr>
          <p:cNvPr id="9" name="metric-1-body">
            <a:extLst xmlns:a="http://schemas.openxmlformats.org/drawingml/2006/main">
              <a:ext uri="{FF2B5EF4-FFF2-40B4-BE49-F238E27FC236}">
                <a16:creationId xmlns:a16="http://schemas.microsoft.com/office/drawing/2014/main" id="{D3650E2D-616B-4809-A6F1-DFC18C4FD442}"/>
              </a:ext>
            </a:extLst>
          </p:cNvPr>
          <p:cNvSpPr>
            <a:spLocks xmlns:a="http://schemas.openxmlformats.org/drawingml/2006/main" noGrp="1"/>
          </p:cNvSpPr>
          <p:nvPr/>
        </p:nvSpPr>
        <p:spPr>
          <a:xfrm xmlns:a="http://schemas.openxmlformats.org/drawingml/2006/main">
            <a:off x="3276600" y="3333750"/>
            <a:ext cx="23812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Inline columns, saved references, and standalone definitions</a:t>
            </a:r>
          </a:p>
        </p:txBody>
      </p:sp>
      <p:sp>
        <p:nvSpPr>
          <p:cNvPr id="10" name="rule-622-170">
            <a:extLst xmlns:a="http://schemas.openxmlformats.org/drawingml/2006/main">
              <a:ext uri="{FF2B5EF4-FFF2-40B4-BE49-F238E27FC236}">
                <a16:creationId xmlns:a16="http://schemas.microsoft.com/office/drawing/2014/main" id="{E1467BA1-C645-4415-A1D9-490EFA4AE090}"/>
              </a:ext>
            </a:extLst>
          </p:cNvPr>
          <p:cNvSpPr>
            <a:spLocks xmlns:a="http://schemas.openxmlformats.org/drawingml/2006/main" noGrp="1"/>
          </p:cNvSpPr>
          <p:nvPr/>
        </p:nvSpPr>
        <p:spPr>
          <a:xfrm xmlns:a="http://schemas.openxmlformats.org/drawingml/2006/main">
            <a:off x="5924550" y="1619250"/>
            <a:ext cx="19050" cy="342900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1" name="metric-2-value">
            <a:extLst xmlns:a="http://schemas.openxmlformats.org/drawingml/2006/main">
              <a:ext uri="{FF2B5EF4-FFF2-40B4-BE49-F238E27FC236}">
                <a16:creationId xmlns:a16="http://schemas.microsoft.com/office/drawing/2014/main" id="{AC829D6C-35B6-4367-8CAB-F4A5CC378AD1}"/>
              </a:ext>
            </a:extLst>
          </p:cNvPr>
          <p:cNvSpPr>
            <a:spLocks xmlns:a="http://schemas.openxmlformats.org/drawingml/2006/main" noGrp="1"/>
          </p:cNvSpPr>
          <p:nvPr/>
        </p:nvSpPr>
        <p:spPr>
          <a:xfrm xmlns:a="http://schemas.openxmlformats.org/drawingml/2006/main">
            <a:off x="6153150" y="1714500"/>
            <a:ext cx="238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5400" b="1">
                <a:solidFill>
                  <a:srgbClr val="111111"/>
                </a:solidFill>
                <a:latin typeface="Helvetica Neue"/>
                <a:ea typeface="Helvetica Neue"/>
                <a:cs typeface="Helvetica Neue"/>
              </a:defRPr>
            </a:pPr>
            <a:r>
              <a:rPr sz="5400" b="1">
                <a:solidFill>
                  <a:srgbClr val="111111"/>
                </a:solidFill>
                <a:latin typeface="Helvetica Neue"/>
                <a:ea typeface="Helvetica Neue"/>
                <a:cs typeface="Helvetica Neue"/>
              </a:rPr>
              <a:t>315</a:t>
            </a:r>
          </a:p>
        </p:txBody>
      </p:sp>
      <p:sp>
        <p:nvSpPr>
          <p:cNvPr id="12" name="metric-2-label">
            <a:extLst xmlns:a="http://schemas.openxmlformats.org/drawingml/2006/main">
              <a:ext uri="{FF2B5EF4-FFF2-40B4-BE49-F238E27FC236}">
                <a16:creationId xmlns:a16="http://schemas.microsoft.com/office/drawing/2014/main" id="{1595CD42-4541-47EB-8C14-6C9C21AE00CD}"/>
              </a:ext>
            </a:extLst>
          </p:cNvPr>
          <p:cNvSpPr>
            <a:spLocks xmlns:a="http://schemas.openxmlformats.org/drawingml/2006/main" noGrp="1"/>
          </p:cNvSpPr>
          <p:nvPr/>
        </p:nvSpPr>
        <p:spPr>
          <a:xfrm xmlns:a="http://schemas.openxmlformats.org/drawingml/2006/main">
            <a:off x="6153150" y="272415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filter records</a:t>
            </a:r>
          </a:p>
        </p:txBody>
      </p:sp>
      <p:sp>
        <p:nvSpPr>
          <p:cNvPr id="13" name="metric-2-body">
            <a:extLst xmlns:a="http://schemas.openxmlformats.org/drawingml/2006/main">
              <a:ext uri="{FF2B5EF4-FFF2-40B4-BE49-F238E27FC236}">
                <a16:creationId xmlns:a16="http://schemas.microsoft.com/office/drawing/2014/main" id="{67326033-CE08-4376-8E14-28D00D10F7D9}"/>
              </a:ext>
            </a:extLst>
          </p:cNvPr>
          <p:cNvSpPr>
            <a:spLocks xmlns:a="http://schemas.openxmlformats.org/drawingml/2006/main" noGrp="1"/>
          </p:cNvSpPr>
          <p:nvPr/>
        </p:nvSpPr>
        <p:spPr>
          <a:xfrm xmlns:a="http://schemas.openxmlformats.org/drawingml/2006/main">
            <a:off x="6153150" y="3333750"/>
            <a:ext cx="23812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Inline filters, saved references, and standalone definitions</a:t>
            </a:r>
          </a:p>
        </p:txBody>
      </p:sp>
      <p:sp>
        <p:nvSpPr>
          <p:cNvPr id="14" name="rule-924-170">
            <a:extLst xmlns:a="http://schemas.openxmlformats.org/drawingml/2006/main">
              <a:ext uri="{FF2B5EF4-FFF2-40B4-BE49-F238E27FC236}">
                <a16:creationId xmlns:a16="http://schemas.microsoft.com/office/drawing/2014/main" id="{FE793733-B102-4F70-9CD8-EDF2EFBC4107}"/>
              </a:ext>
            </a:extLst>
          </p:cNvPr>
          <p:cNvSpPr>
            <a:spLocks xmlns:a="http://schemas.openxmlformats.org/drawingml/2006/main" noGrp="1"/>
          </p:cNvSpPr>
          <p:nvPr/>
        </p:nvSpPr>
        <p:spPr>
          <a:xfrm xmlns:a="http://schemas.openxmlformats.org/drawingml/2006/main">
            <a:off x="8801100" y="1619250"/>
            <a:ext cx="19050" cy="342900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5" name="metric-3-value">
            <a:extLst xmlns:a="http://schemas.openxmlformats.org/drawingml/2006/main">
              <a:ext uri="{FF2B5EF4-FFF2-40B4-BE49-F238E27FC236}">
                <a16:creationId xmlns:a16="http://schemas.microsoft.com/office/drawing/2014/main" id="{824F2D90-175A-42EE-97A1-DCB004C13BDC}"/>
              </a:ext>
            </a:extLst>
          </p:cNvPr>
          <p:cNvSpPr>
            <a:spLocks xmlns:a="http://schemas.openxmlformats.org/drawingml/2006/main" noGrp="1"/>
          </p:cNvSpPr>
          <p:nvPr/>
        </p:nvSpPr>
        <p:spPr>
          <a:xfrm xmlns:a="http://schemas.openxmlformats.org/drawingml/2006/main">
            <a:off x="9029700" y="1714500"/>
            <a:ext cx="238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5400" b="1">
                <a:solidFill>
                  <a:srgbClr val="3D8DFF"/>
                </a:solidFill>
                <a:latin typeface="Helvetica Neue"/>
                <a:ea typeface="Helvetica Neue"/>
                <a:cs typeface="Helvetica Neue"/>
              </a:defRPr>
            </a:pPr>
            <a:r>
              <a:rPr sz="5400" b="1">
                <a:solidFill>
                  <a:srgbClr val="3D8DFF"/>
                </a:solidFill>
                <a:latin typeface="Helvetica Neue"/>
                <a:ea typeface="Helvetica Neue"/>
                <a:cs typeface="Helvetica Neue"/>
              </a:rPr>
              <a:t>450</a:t>
            </a:r>
          </a:p>
        </p:txBody>
      </p:sp>
      <p:sp>
        <p:nvSpPr>
          <p:cNvPr id="16" name="metric-3-label">
            <a:extLst xmlns:a="http://schemas.openxmlformats.org/drawingml/2006/main">
              <a:ext uri="{FF2B5EF4-FFF2-40B4-BE49-F238E27FC236}">
                <a16:creationId xmlns:a16="http://schemas.microsoft.com/office/drawing/2014/main" id="{909015EE-AE95-4541-B97E-8788AB496495}"/>
              </a:ext>
            </a:extLst>
          </p:cNvPr>
          <p:cNvSpPr>
            <a:spLocks xmlns:a="http://schemas.openxmlformats.org/drawingml/2006/main" noGrp="1"/>
          </p:cNvSpPr>
          <p:nvPr/>
        </p:nvSpPr>
        <p:spPr>
          <a:xfrm xmlns:a="http://schemas.openxmlformats.org/drawingml/2006/main">
            <a:off x="9029700" y="272415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dependencies</a:t>
            </a:r>
          </a:p>
        </p:txBody>
      </p:sp>
      <p:sp>
        <p:nvSpPr>
          <p:cNvPr id="17" name="metric-3-body">
            <a:extLst xmlns:a="http://schemas.openxmlformats.org/drawingml/2006/main">
              <a:ext uri="{FF2B5EF4-FFF2-40B4-BE49-F238E27FC236}">
                <a16:creationId xmlns:a16="http://schemas.microsoft.com/office/drawing/2014/main" id="{31F3DDD4-5ABF-4672-9DE2-E8DB25F46738}"/>
              </a:ext>
            </a:extLst>
          </p:cNvPr>
          <p:cNvSpPr>
            <a:spLocks xmlns:a="http://schemas.openxmlformats.org/drawingml/2006/main" noGrp="1"/>
          </p:cNvSpPr>
          <p:nvPr/>
        </p:nvSpPr>
        <p:spPr>
          <a:xfrm xmlns:a="http://schemas.openxmlformats.org/drawingml/2006/main">
            <a:off x="9029700" y="3333750"/>
            <a:ext cx="23812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Distinct report-to-saved-column or saved-filter paths</a:t>
            </a:r>
          </a:p>
        </p:txBody>
      </p:sp>
      <p:sp>
        <p:nvSpPr>
          <p:cNvPr id="18" name="large-list-band">
            <a:extLst xmlns:a="http://schemas.openxmlformats.org/drawingml/2006/main">
              <a:ext uri="{FF2B5EF4-FFF2-40B4-BE49-F238E27FC236}">
                <a16:creationId xmlns:a16="http://schemas.microsoft.com/office/drawing/2014/main" id="{A69F58BB-3F14-4999-B0A7-79787BF2BE75}"/>
              </a:ext>
            </a:extLst>
          </p:cNvPr>
          <p:cNvSpPr>
            <a:spLocks xmlns:a="http://schemas.openxmlformats.org/drawingml/2006/main" noGrp="1"/>
          </p:cNvSpPr>
          <p:nvPr/>
        </p:nvSpPr>
        <p:spPr>
          <a:xfrm xmlns:a="http://schemas.openxmlformats.org/drawingml/2006/main">
            <a:off x="400050" y="5314950"/>
            <a:ext cx="11391900" cy="72390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19" name="large-list-value">
            <a:extLst xmlns:a="http://schemas.openxmlformats.org/drawingml/2006/main">
              <a:ext uri="{FF2B5EF4-FFF2-40B4-BE49-F238E27FC236}">
                <a16:creationId xmlns:a16="http://schemas.microsoft.com/office/drawing/2014/main" id="{D376EC89-B8E1-46B8-A7F0-30BCADB26BE2}"/>
              </a:ext>
            </a:extLst>
          </p:cNvPr>
          <p:cNvSpPr>
            <a:spLocks xmlns:a="http://schemas.openxmlformats.org/drawingml/2006/main" noGrp="1"/>
          </p:cNvSpPr>
          <p:nvPr/>
        </p:nvSpPr>
        <p:spPr>
          <a:xfrm xmlns:a="http://schemas.openxmlformats.org/drawingml/2006/main">
            <a:off x="628650" y="542925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850" b="1">
                <a:solidFill>
                  <a:srgbClr val="3D8DFF"/>
                </a:solidFill>
                <a:latin typeface="Helvetica Neue"/>
                <a:ea typeface="Helvetica Neue"/>
                <a:cs typeface="Helvetica Neue"/>
              </a:defRPr>
            </a:pPr>
            <a:r>
              <a:rPr sz="2850" b="1">
                <a:solidFill>
                  <a:srgbClr val="3D8DFF"/>
                </a:solidFill>
                <a:latin typeface="Helvetica Neue"/>
                <a:ea typeface="Helvetica Neue"/>
                <a:cs typeface="Helvetica Neue"/>
              </a:rPr>
              <a:t>150,880</a:t>
            </a:r>
          </a:p>
        </p:txBody>
      </p:sp>
      <p:sp>
        <p:nvSpPr>
          <p:cNvPr id="20" name="large-list-caption">
            <a:extLst xmlns:a="http://schemas.openxmlformats.org/drawingml/2006/main">
              <a:ext uri="{FF2B5EF4-FFF2-40B4-BE49-F238E27FC236}">
                <a16:creationId xmlns:a16="http://schemas.microsoft.com/office/drawing/2014/main" id="{14850C8F-7E1D-4D13-9653-E90E90CC5FDF}"/>
              </a:ext>
            </a:extLst>
          </p:cNvPr>
          <p:cNvSpPr>
            <a:spLocks xmlns:a="http://schemas.openxmlformats.org/drawingml/2006/main" noGrp="1"/>
          </p:cNvSpPr>
          <p:nvPr/>
        </p:nvSpPr>
        <p:spPr>
          <a:xfrm xmlns:a="http://schemas.openxmlformats.org/drawingml/2006/main">
            <a:off x="2571750" y="5505450"/>
            <a:ext cx="8096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individual values extracted from long IN and NOT IN filter lists</a:t>
            </a:r>
          </a:p>
        </p:txBody>
      </p:sp>
    </p:spTree>
    <p:extLst>
      <p:ext uri="{BB962C8B-B14F-4D97-AF65-F5344CB8AC3E}">
        <p14:creationId xmlns:p14="http://schemas.microsoft.com/office/powerpoint/2010/main" val="112063082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slide-5-title">
            <a:extLst xmlns:a="http://schemas.openxmlformats.org/drawingml/2006/main">
              <a:ext uri="{FF2B5EF4-FFF2-40B4-BE49-F238E27FC236}">
                <a16:creationId xmlns:a16="http://schemas.microsoft.com/office/drawing/2014/main" id="{35B606C1-7969-4EF8-89B6-D74CC8715352}"/>
              </a:ext>
            </a:extLst>
          </p:cNvPr>
          <p:cNvSpPr>
            <a:spLocks xmlns:a="http://schemas.openxmlformats.org/drawingml/2006/main" noGrp="1"/>
          </p:cNvSpPr>
          <p:nvPr/>
        </p:nvSpPr>
        <p:spPr>
          <a:xfrm xmlns:a="http://schemas.openxmlformats.org/drawingml/2006/main">
            <a:off x="400050" y="304800"/>
            <a:ext cx="10953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3750" b="1">
                <a:solidFill>
                  <a:srgbClr val="111111"/>
                </a:solidFill>
                <a:latin typeface="Helvetica Neue"/>
                <a:ea typeface="Helvetica Neue"/>
                <a:cs typeface="Helvetica Neue"/>
              </a:defRPr>
            </a:pPr>
            <a:r>
              <a:rPr sz="3750" b="1">
                <a:solidFill>
                  <a:srgbClr val="111111"/>
                </a:solidFill>
                <a:latin typeface="Helvetica Neue"/>
                <a:ea typeface="Helvetica Neue"/>
                <a:cs typeface="Helvetica Neue"/>
              </a:rPr>
              <a:t>References remain explicit instead of being flattened</a:t>
            </a:r>
          </a:p>
        </p:txBody>
      </p:sp>
      <p:sp>
        <p:nvSpPr>
          <p:cNvPr id="2" name="slide-5-number">
            <a:extLst xmlns:a="http://schemas.openxmlformats.org/drawingml/2006/main">
              <a:ext uri="{FF2B5EF4-FFF2-40B4-BE49-F238E27FC236}">
                <a16:creationId xmlns:a16="http://schemas.microsoft.com/office/drawing/2014/main" id="{FA93DCD8-BD50-4F7D-B4A0-3DEA193060FF}"/>
              </a:ext>
            </a:extLst>
          </p:cNvPr>
          <p:cNvSpPr>
            <a:spLocks xmlns:a="http://schemas.openxmlformats.org/drawingml/2006/main" noGrp="1"/>
          </p:cNvSpPr>
          <p:nvPr/>
        </p:nvSpPr>
        <p:spPr>
          <a:xfrm xmlns:a="http://schemas.openxmlformats.org/drawingml/2006/main">
            <a:off x="11220450" y="6334125"/>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a:solidFill>
                  <a:srgbClr val="565C65"/>
                </a:solidFill>
                <a:latin typeface="Helvetica Neue"/>
                <a:ea typeface="Helvetica Neue"/>
                <a:cs typeface="Helvetica Neue"/>
              </a:defRPr>
            </a:pPr>
            <a:r>
              <a:rPr sz="1050">
                <a:solidFill>
                  <a:srgbClr val="565C65"/>
                </a:solidFill>
                <a:latin typeface="Helvetica Neue"/>
                <a:ea typeface="Helvetica Neue"/>
                <a:cs typeface="Helvetica Neue"/>
              </a:rPr>
              <a:t>05</a:t>
            </a:r>
          </a:p>
        </p:txBody>
      </p:sp>
      <p:sp>
        <p:nvSpPr>
          <p:cNvPr id="3" name="references-lead">
            <a:extLst xmlns:a="http://schemas.openxmlformats.org/drawingml/2006/main">
              <a:ext uri="{FF2B5EF4-FFF2-40B4-BE49-F238E27FC236}">
                <a16:creationId xmlns:a16="http://schemas.microsoft.com/office/drawing/2014/main" id="{9AE69FCE-E0F7-4033-A93E-EC275828CD36}"/>
              </a:ext>
            </a:extLst>
          </p:cNvPr>
          <p:cNvSpPr>
            <a:spLocks xmlns:a="http://schemas.openxmlformats.org/drawingml/2006/main" noGrp="1"/>
          </p:cNvSpPr>
          <p:nvPr/>
        </p:nvSpPr>
        <p:spPr>
          <a:xfrm xmlns:a="http://schemas.openxmlformats.org/drawingml/2006/main">
            <a:off x="400050" y="1619250"/>
            <a:ext cx="5715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400" b="1">
                <a:solidFill>
                  <a:srgbClr val="111111"/>
                </a:solidFill>
                <a:latin typeface="Helvetica Neue"/>
                <a:ea typeface="Helvetica Neue"/>
                <a:cs typeface="Helvetica Neue"/>
              </a:defRPr>
            </a:pPr>
            <a:r>
              <a:rPr sz="2400" b="1">
                <a:solidFill>
                  <a:srgbClr val="111111"/>
                </a:solidFill>
                <a:latin typeface="Helvetica Neue"/>
                <a:ea typeface="Helvetica Neue"/>
                <a:cs typeface="Helvetica Neue"/>
              </a:rPr>
              <a:t>A report reference points to one standalone definition.</a:t>
            </a:r>
          </a:p>
        </p:txBody>
      </p:sp>
      <p:sp>
        <p:nvSpPr>
          <p:cNvPr id="4" name="references-body">
            <a:extLst xmlns:a="http://schemas.openxmlformats.org/drawingml/2006/main">
              <a:ext uri="{FF2B5EF4-FFF2-40B4-BE49-F238E27FC236}">
                <a16:creationId xmlns:a16="http://schemas.microsoft.com/office/drawing/2014/main" id="{754D76F2-34A5-4470-B650-29FE4D259F99}"/>
              </a:ext>
            </a:extLst>
          </p:cNvPr>
          <p:cNvSpPr>
            <a:spLocks xmlns:a="http://schemas.openxmlformats.org/drawingml/2006/main" noGrp="1"/>
          </p:cNvSpPr>
          <p:nvPr/>
        </p:nvSpPr>
        <p:spPr>
          <a:xfrm xmlns:a="http://schemas.openxmlformats.org/drawingml/2006/main">
            <a:off x="400050" y="2724150"/>
            <a:ext cx="5334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00">
                <a:solidFill>
                  <a:srgbClr val="565C65"/>
                </a:solidFill>
                <a:latin typeface="Helvetica Neue"/>
                <a:ea typeface="Helvetica Neue"/>
                <a:cs typeface="Helvetica Neue"/>
              </a:defRPr>
            </a:pPr>
            <a:r>
              <a:rPr sz="1800">
                <a:solidFill>
                  <a:srgbClr val="565C65"/>
                </a:solidFill>
                <a:latin typeface="Helvetica Neue"/>
                <a:ea typeface="Helvetica Neue"/>
                <a:cs typeface="Helvetica Neue"/>
              </a:rPr>
              <a:t>That preserves reuse, prevents rule duplication, and keeps unresolved paths visible for follow-up.</a:t>
            </a:r>
          </a:p>
        </p:txBody>
      </p:sp>
      <p:sp>
        <p:nvSpPr>
          <p:cNvPr id="5" name="reference-dot-438">
            <a:extLst xmlns:a="http://schemas.openxmlformats.org/drawingml/2006/main">
              <a:ext uri="{FF2B5EF4-FFF2-40B4-BE49-F238E27FC236}">
                <a16:creationId xmlns:a16="http://schemas.microsoft.com/office/drawing/2014/main" id="{31A35347-A184-4160-9401-E3436041B6E5}"/>
              </a:ext>
            </a:extLst>
          </p:cNvPr>
          <p:cNvSpPr>
            <a:spLocks xmlns:a="http://schemas.openxmlformats.org/drawingml/2006/main" noGrp="1"/>
          </p:cNvSpPr>
          <p:nvPr/>
        </p:nvSpPr>
        <p:spPr>
          <a:xfrm xmlns:a="http://schemas.openxmlformats.org/drawingml/2006/main">
            <a:off x="400050" y="4238625"/>
            <a:ext cx="114300" cy="11430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6" name="reference-head-438">
            <a:extLst xmlns:a="http://schemas.openxmlformats.org/drawingml/2006/main">
              <a:ext uri="{FF2B5EF4-FFF2-40B4-BE49-F238E27FC236}">
                <a16:creationId xmlns:a16="http://schemas.microsoft.com/office/drawing/2014/main" id="{E7DAF69E-2604-4628-A716-8D6275DF1C16}"/>
              </a:ext>
            </a:extLst>
          </p:cNvPr>
          <p:cNvSpPr>
            <a:spLocks xmlns:a="http://schemas.openxmlformats.org/drawingml/2006/main" noGrp="1"/>
          </p:cNvSpPr>
          <p:nvPr/>
        </p:nvSpPr>
        <p:spPr>
          <a:xfrm xmlns:a="http://schemas.openxmlformats.org/drawingml/2006/main">
            <a:off x="685800" y="4171950"/>
            <a:ext cx="1952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650" b="1">
                <a:solidFill>
                  <a:srgbClr val="111111"/>
                </a:solidFill>
                <a:latin typeface="Helvetica Neue"/>
                <a:ea typeface="Helvetica Neue"/>
                <a:cs typeface="Helvetica Neue"/>
              </a:defRPr>
            </a:pPr>
            <a:r>
              <a:rPr sz="1650" b="1">
                <a:solidFill>
                  <a:srgbClr val="111111"/>
                </a:solidFill>
                <a:latin typeface="Helvetica Neue"/>
                <a:ea typeface="Helvetica Neue"/>
                <a:cs typeface="Helvetica Neue"/>
              </a:rPr>
              <a:t>Inline logic</a:t>
            </a:r>
          </a:p>
        </p:txBody>
      </p:sp>
      <p:sp>
        <p:nvSpPr>
          <p:cNvPr id="7" name="reference-body-438">
            <a:extLst xmlns:a="http://schemas.openxmlformats.org/drawingml/2006/main">
              <a:ext uri="{FF2B5EF4-FFF2-40B4-BE49-F238E27FC236}">
                <a16:creationId xmlns:a16="http://schemas.microsoft.com/office/drawing/2014/main" id="{B1C2F9FA-98C0-4DBE-BDF4-8BB3B5E75AA8}"/>
              </a:ext>
            </a:extLst>
          </p:cNvPr>
          <p:cNvSpPr>
            <a:spLocks xmlns:a="http://schemas.openxmlformats.org/drawingml/2006/main" noGrp="1"/>
          </p:cNvSpPr>
          <p:nvPr/>
        </p:nvSpPr>
        <p:spPr>
          <a:xfrm xmlns:a="http://schemas.openxmlformats.org/drawingml/2006/main">
            <a:off x="2628900" y="4171950"/>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stays attached to its report</a:t>
            </a:r>
          </a:p>
        </p:txBody>
      </p:sp>
      <p:sp>
        <p:nvSpPr>
          <p:cNvPr id="8" name="reference-dot-496">
            <a:extLst xmlns:a="http://schemas.openxmlformats.org/drawingml/2006/main">
              <a:ext uri="{FF2B5EF4-FFF2-40B4-BE49-F238E27FC236}">
                <a16:creationId xmlns:a16="http://schemas.microsoft.com/office/drawing/2014/main" id="{F8875804-644F-46B7-87E4-C776C3522F74}"/>
              </a:ext>
            </a:extLst>
          </p:cNvPr>
          <p:cNvSpPr>
            <a:spLocks xmlns:a="http://schemas.openxmlformats.org/drawingml/2006/main" noGrp="1"/>
          </p:cNvSpPr>
          <p:nvPr/>
        </p:nvSpPr>
        <p:spPr>
          <a:xfrm xmlns:a="http://schemas.openxmlformats.org/drawingml/2006/main">
            <a:off x="400050" y="4791075"/>
            <a:ext cx="114300" cy="11430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9" name="reference-head-496">
            <a:extLst xmlns:a="http://schemas.openxmlformats.org/drawingml/2006/main">
              <a:ext uri="{FF2B5EF4-FFF2-40B4-BE49-F238E27FC236}">
                <a16:creationId xmlns:a16="http://schemas.microsoft.com/office/drawing/2014/main" id="{A4DE9F20-C164-47B1-B76C-C8857CB61525}"/>
              </a:ext>
            </a:extLst>
          </p:cNvPr>
          <p:cNvSpPr>
            <a:spLocks xmlns:a="http://schemas.openxmlformats.org/drawingml/2006/main" noGrp="1"/>
          </p:cNvSpPr>
          <p:nvPr/>
        </p:nvSpPr>
        <p:spPr>
          <a:xfrm xmlns:a="http://schemas.openxmlformats.org/drawingml/2006/main">
            <a:off x="685800" y="4724400"/>
            <a:ext cx="1952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650" b="1">
                <a:solidFill>
                  <a:srgbClr val="111111"/>
                </a:solidFill>
                <a:latin typeface="Helvetica Neue"/>
                <a:ea typeface="Helvetica Neue"/>
                <a:cs typeface="Helvetica Neue"/>
              </a:defRPr>
            </a:pPr>
            <a:r>
              <a:rPr sz="1650" b="1">
                <a:solidFill>
                  <a:srgbClr val="111111"/>
                </a:solidFill>
                <a:latin typeface="Helvetica Neue"/>
                <a:ea typeface="Helvetica Neue"/>
                <a:cs typeface="Helvetica Neue"/>
              </a:rPr>
              <a:t>Saved definitions</a:t>
            </a:r>
          </a:p>
        </p:txBody>
      </p:sp>
      <p:sp>
        <p:nvSpPr>
          <p:cNvPr id="10" name="reference-body-496">
            <a:extLst xmlns:a="http://schemas.openxmlformats.org/drawingml/2006/main">
              <a:ext uri="{FF2B5EF4-FFF2-40B4-BE49-F238E27FC236}">
                <a16:creationId xmlns:a16="http://schemas.microsoft.com/office/drawing/2014/main" id="{B21584AF-2089-4D41-A0DD-89FD4E63F77A}"/>
              </a:ext>
            </a:extLst>
          </p:cNvPr>
          <p:cNvSpPr>
            <a:spLocks xmlns:a="http://schemas.openxmlformats.org/drawingml/2006/main" noGrp="1"/>
          </p:cNvSpPr>
          <p:nvPr/>
        </p:nvSpPr>
        <p:spPr>
          <a:xfrm xmlns:a="http://schemas.openxmlformats.org/drawingml/2006/main">
            <a:off x="2628900" y="4724400"/>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remain present even when unreferenced</a:t>
            </a:r>
          </a:p>
        </p:txBody>
      </p:sp>
      <p:sp>
        <p:nvSpPr>
          <p:cNvPr id="11" name="reference-dot-554">
            <a:extLst xmlns:a="http://schemas.openxmlformats.org/drawingml/2006/main">
              <a:ext uri="{FF2B5EF4-FFF2-40B4-BE49-F238E27FC236}">
                <a16:creationId xmlns:a16="http://schemas.microsoft.com/office/drawing/2014/main" id="{A126E93C-F0CF-45F9-B516-27D996E7B7E4}"/>
              </a:ext>
            </a:extLst>
          </p:cNvPr>
          <p:cNvSpPr>
            <a:spLocks xmlns:a="http://schemas.openxmlformats.org/drawingml/2006/main" noGrp="1"/>
          </p:cNvSpPr>
          <p:nvPr/>
        </p:nvSpPr>
        <p:spPr>
          <a:xfrm xmlns:a="http://schemas.openxmlformats.org/drawingml/2006/main">
            <a:off x="400050" y="5343525"/>
            <a:ext cx="114300" cy="11430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2" name="reference-head-554">
            <a:extLst xmlns:a="http://schemas.openxmlformats.org/drawingml/2006/main">
              <a:ext uri="{FF2B5EF4-FFF2-40B4-BE49-F238E27FC236}">
                <a16:creationId xmlns:a16="http://schemas.microsoft.com/office/drawing/2014/main" id="{AF000759-848B-413B-B8AB-0E109AAD320F}"/>
              </a:ext>
            </a:extLst>
          </p:cNvPr>
          <p:cNvSpPr>
            <a:spLocks xmlns:a="http://schemas.openxmlformats.org/drawingml/2006/main" noGrp="1"/>
          </p:cNvSpPr>
          <p:nvPr/>
        </p:nvSpPr>
        <p:spPr>
          <a:xfrm xmlns:a="http://schemas.openxmlformats.org/drawingml/2006/main">
            <a:off x="685800" y="5276850"/>
            <a:ext cx="1952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650" b="1">
                <a:solidFill>
                  <a:srgbClr val="111111"/>
                </a:solidFill>
                <a:latin typeface="Helvetica Neue"/>
                <a:ea typeface="Helvetica Neue"/>
                <a:cs typeface="Helvetica Neue"/>
              </a:defRPr>
            </a:pPr>
            <a:r>
              <a:rPr sz="1650" b="1">
                <a:solidFill>
                  <a:srgbClr val="111111"/>
                </a:solidFill>
                <a:latin typeface="Helvetica Neue"/>
                <a:ea typeface="Helvetica Neue"/>
                <a:cs typeface="Helvetica Neue"/>
              </a:rPr>
              <a:t>Dependency rows</a:t>
            </a:r>
          </a:p>
        </p:txBody>
      </p:sp>
      <p:sp>
        <p:nvSpPr>
          <p:cNvPr id="13" name="reference-body-554">
            <a:extLst xmlns:a="http://schemas.openxmlformats.org/drawingml/2006/main">
              <a:ext uri="{FF2B5EF4-FFF2-40B4-BE49-F238E27FC236}">
                <a16:creationId xmlns:a16="http://schemas.microsoft.com/office/drawing/2014/main" id="{702FD0FF-EB9A-4BC3-9E13-16ACDAE74583}"/>
              </a:ext>
            </a:extLst>
          </p:cNvPr>
          <p:cNvSpPr>
            <a:spLocks xmlns:a="http://schemas.openxmlformats.org/drawingml/2006/main" noGrp="1"/>
          </p:cNvSpPr>
          <p:nvPr/>
        </p:nvSpPr>
        <p:spPr>
          <a:xfrm xmlns:a="http://schemas.openxmlformats.org/drawingml/2006/main">
            <a:off x="2628900" y="5276850"/>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record target path and resolution status</a:t>
            </a:r>
          </a:p>
        </p:txBody>
      </p:sp>
      <p:sp>
        <p:nvSpPr>
          <p:cNvPr id="14" name="relationship-backing">
            <a:extLst xmlns:a="http://schemas.openxmlformats.org/drawingml/2006/main">
              <a:ext uri="{FF2B5EF4-FFF2-40B4-BE49-F238E27FC236}">
                <a16:creationId xmlns:a16="http://schemas.microsoft.com/office/drawing/2014/main" id="{0F11C850-0561-499A-AC76-B58A40C412FD}"/>
              </a:ext>
            </a:extLst>
          </p:cNvPr>
          <p:cNvSpPr>
            <a:spLocks xmlns:a="http://schemas.openxmlformats.org/drawingml/2006/main" noGrp="1"/>
          </p:cNvSpPr>
          <p:nvPr/>
        </p:nvSpPr>
        <p:spPr>
          <a:xfrm xmlns:a="http://schemas.openxmlformats.org/drawingml/2006/main">
            <a:off x="6572250" y="1333500"/>
            <a:ext cx="5219700" cy="4762500"/>
          </a:xfrm>
          <a:prstGeom xmlns:a="http://schemas.openxmlformats.org/drawingml/2006/main" prst="rect">
            <a:avLst/>
          </a:prstGeom>
          <a:solidFill xmlns:a="http://schemas.openxmlformats.org/drawingml/2006/main">
            <a:srgbClr val="FAFAFA"/>
          </a:solidFill>
          <a:ln xmlns:a="http://schemas.openxmlformats.org/drawingml/2006/main" w="9525">
            <a:solidFill>
              <a:srgbClr val="B8BCC4"/>
            </a:solidFill>
            <a:prstDash val="solid"/>
          </a:ln>
        </p:spPr>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edcdb894651a4d5c"/>
          <a:stretch xmlns:a="http://schemas.openxmlformats.org/drawingml/2006/main"/>
        </p:blipFill>
        <p:spPr>
          <a:xfrm xmlns:a="http://schemas.openxmlformats.org/drawingml/2006/main">
            <a:off x="7917656" y="1466850"/>
            <a:ext cx="2528888" cy="4495800"/>
          </a:xfrm>
          <a:prstGeom xmlns:a="http://schemas.openxmlformats.org/drawingml/2006/main" prst="rect">
            <a:avLst/>
          </a:prstGeom>
        </p:spPr>
      </p:pic>
    </p:spTree>
    <p:extLst>
      <p:ext uri="{BB962C8B-B14F-4D97-AF65-F5344CB8AC3E}">
        <p14:creationId xmlns:p14="http://schemas.microsoft.com/office/powerpoint/2010/main" val="85630517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lide-6-title">
            <a:extLst xmlns:a="http://schemas.openxmlformats.org/drawingml/2006/main">
              <a:ext uri="{FF2B5EF4-FFF2-40B4-BE49-F238E27FC236}">
                <a16:creationId xmlns:a16="http://schemas.microsoft.com/office/drawing/2014/main" id="{6A6F228C-7701-4EC3-A1C9-392AF6B643C7}"/>
              </a:ext>
            </a:extLst>
          </p:cNvPr>
          <p:cNvSpPr>
            <a:spLocks xmlns:a="http://schemas.openxmlformats.org/drawingml/2006/main" noGrp="1"/>
          </p:cNvSpPr>
          <p:nvPr/>
        </p:nvSpPr>
        <p:spPr>
          <a:xfrm xmlns:a="http://schemas.openxmlformats.org/drawingml/2006/main">
            <a:off x="400050" y="304800"/>
            <a:ext cx="10953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3750" b="1">
                <a:solidFill>
                  <a:srgbClr val="111111"/>
                </a:solidFill>
                <a:latin typeface="Helvetica Neue"/>
                <a:ea typeface="Helvetica Neue"/>
                <a:cs typeface="Helvetica Neue"/>
              </a:defRPr>
            </a:pPr>
            <a:r>
              <a:rPr sz="3750" b="1">
                <a:solidFill>
                  <a:srgbClr val="111111"/>
                </a:solidFill>
                <a:latin typeface="Helvetica Neue"/>
                <a:ea typeface="Helvetica Neue"/>
                <a:cs typeface="Helvetica Neue"/>
              </a:rPr>
              <a:t>Human review gates campus publication</a:t>
            </a:r>
          </a:p>
        </p:txBody>
      </p:sp>
      <p:sp>
        <p:nvSpPr>
          <p:cNvPr id="2" name="slide-6-number">
            <a:extLst xmlns:a="http://schemas.openxmlformats.org/drawingml/2006/main">
              <a:ext uri="{FF2B5EF4-FFF2-40B4-BE49-F238E27FC236}">
                <a16:creationId xmlns:a16="http://schemas.microsoft.com/office/drawing/2014/main" id="{7F3A546B-1893-442C-B345-9D4F7CC7760B}"/>
              </a:ext>
            </a:extLst>
          </p:cNvPr>
          <p:cNvSpPr>
            <a:spLocks xmlns:a="http://schemas.openxmlformats.org/drawingml/2006/main" noGrp="1"/>
          </p:cNvSpPr>
          <p:nvPr/>
        </p:nvSpPr>
        <p:spPr>
          <a:xfrm xmlns:a="http://schemas.openxmlformats.org/drawingml/2006/main">
            <a:off x="11220450" y="6334125"/>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a:solidFill>
                  <a:srgbClr val="565C65"/>
                </a:solidFill>
                <a:latin typeface="Helvetica Neue"/>
                <a:ea typeface="Helvetica Neue"/>
                <a:cs typeface="Helvetica Neue"/>
              </a:defRPr>
            </a:pPr>
            <a:r>
              <a:rPr sz="1050">
                <a:solidFill>
                  <a:srgbClr val="565C65"/>
                </a:solidFill>
                <a:latin typeface="Helvetica Neue"/>
                <a:ea typeface="Helvetica Neue"/>
                <a:cs typeface="Helvetica Neue"/>
              </a:rPr>
              <a:t>06</a:t>
            </a:r>
          </a:p>
        </p:txBody>
      </p:sp>
      <p:sp>
        <p:nvSpPr>
          <p:cNvPr id="3" name="report-builder-backing">
            <a:extLst xmlns:a="http://schemas.openxmlformats.org/drawingml/2006/main">
              <a:ext uri="{FF2B5EF4-FFF2-40B4-BE49-F238E27FC236}">
                <a16:creationId xmlns:a16="http://schemas.microsoft.com/office/drawing/2014/main" id="{24E24E92-A044-4E50-87E8-A3BB719186AA}"/>
              </a:ext>
            </a:extLst>
          </p:cNvPr>
          <p:cNvSpPr>
            <a:spLocks xmlns:a="http://schemas.openxmlformats.org/drawingml/2006/main" noGrp="1"/>
          </p:cNvSpPr>
          <p:nvPr/>
        </p:nvSpPr>
        <p:spPr>
          <a:xfrm xmlns:a="http://schemas.openxmlformats.org/drawingml/2006/main">
            <a:off x="400050" y="1257300"/>
            <a:ext cx="11391900" cy="2781300"/>
          </a:xfrm>
          <a:prstGeom xmlns:a="http://schemas.openxmlformats.org/drawingml/2006/main" prst="rect">
            <a:avLst/>
          </a:prstGeom>
          <a:solidFill xmlns:a="http://schemas.openxmlformats.org/drawingml/2006/main">
            <a:srgbClr val="FAFAFA"/>
          </a:solidFill>
          <a:ln xmlns:a="http://schemas.openxmlformats.org/drawingml/2006/main" w="9525">
            <a:solidFill>
              <a:srgbClr val="B8BCC4"/>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829d2828d9ab4a89"/>
          <a:stretch xmlns:a="http://schemas.openxmlformats.org/drawingml/2006/main"/>
        </p:blipFill>
        <p:spPr>
          <a:xfrm xmlns:a="http://schemas.openxmlformats.org/drawingml/2006/main">
            <a:off x="4084320" y="1390650"/>
            <a:ext cx="4023360" cy="2514600"/>
          </a:xfrm>
          <a:prstGeom xmlns:a="http://schemas.openxmlformats.org/drawingml/2006/main" prst="rect">
            <a:avLst/>
          </a:prstGeom>
        </p:spPr>
      </p:pic>
      <p:sp>
        <p:nvSpPr>
          <p:cNvPr id="5" name="rule-72-520">
            <a:extLst xmlns:a="http://schemas.openxmlformats.org/drawingml/2006/main">
              <a:ext uri="{FF2B5EF4-FFF2-40B4-BE49-F238E27FC236}">
                <a16:creationId xmlns:a16="http://schemas.microsoft.com/office/drawing/2014/main" id="{51F316A9-C676-4C59-9C45-723EE47BBFFE}"/>
              </a:ext>
            </a:extLst>
          </p:cNvPr>
          <p:cNvSpPr>
            <a:spLocks xmlns:a="http://schemas.openxmlformats.org/drawingml/2006/main" noGrp="1"/>
          </p:cNvSpPr>
          <p:nvPr/>
        </p:nvSpPr>
        <p:spPr>
          <a:xfrm xmlns:a="http://schemas.openxmlformats.org/drawingml/2006/main">
            <a:off x="685800" y="4953000"/>
            <a:ext cx="10287000" cy="1905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6" name="step-01-node">
            <a:extLst xmlns:a="http://schemas.openxmlformats.org/drawingml/2006/main">
              <a:ext uri="{FF2B5EF4-FFF2-40B4-BE49-F238E27FC236}">
                <a16:creationId xmlns:a16="http://schemas.microsoft.com/office/drawing/2014/main" id="{8C112494-6FB2-4103-9638-8C37CD244736}"/>
              </a:ext>
            </a:extLst>
          </p:cNvPr>
          <p:cNvSpPr>
            <a:spLocks xmlns:a="http://schemas.openxmlformats.org/drawingml/2006/main" noGrp="1"/>
          </p:cNvSpPr>
          <p:nvPr/>
        </p:nvSpPr>
        <p:spPr>
          <a:xfrm xmlns:a="http://schemas.openxmlformats.org/drawingml/2006/main">
            <a:off x="876300" y="4857750"/>
            <a:ext cx="209550" cy="209550"/>
          </a:xfrm>
          <a:prstGeom xmlns:a="http://schemas.openxmlformats.org/drawingml/2006/main" prst="ellipse">
            <a:avLst/>
          </a:prstGeom>
          <a:solidFill xmlns:a="http://schemas.openxmlformats.org/drawingml/2006/main">
            <a:srgbClr val="111111"/>
          </a:solidFill>
          <a:ln xmlns:a="http://schemas.openxmlformats.org/drawingml/2006/main" w="0">
            <a:noFill/>
            <a:prstDash val="solid"/>
          </a:ln>
        </p:spPr>
      </p:sp>
      <p:sp>
        <p:nvSpPr>
          <p:cNvPr id="7" name="step-01-number">
            <a:extLst xmlns:a="http://schemas.openxmlformats.org/drawingml/2006/main">
              <a:ext uri="{FF2B5EF4-FFF2-40B4-BE49-F238E27FC236}">
                <a16:creationId xmlns:a16="http://schemas.microsoft.com/office/drawing/2014/main" id="{3820E78F-D788-4BE8-BA31-730FCE0508CD}"/>
              </a:ext>
            </a:extLst>
          </p:cNvPr>
          <p:cNvSpPr>
            <a:spLocks xmlns:a="http://schemas.openxmlformats.org/drawingml/2006/main" noGrp="1"/>
          </p:cNvSpPr>
          <p:nvPr/>
        </p:nvSpPr>
        <p:spPr>
          <a:xfrm xmlns:a="http://schemas.openxmlformats.org/drawingml/2006/main">
            <a:off x="876300" y="5257800"/>
            <a:ext cx="514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565C65"/>
                </a:solidFill>
                <a:latin typeface="Helvetica Neue"/>
                <a:ea typeface="Helvetica Neue"/>
                <a:cs typeface="Helvetica Neue"/>
              </a:defRPr>
            </a:pPr>
            <a:r>
              <a:rPr sz="1350" b="1">
                <a:solidFill>
                  <a:srgbClr val="565C65"/>
                </a:solidFill>
                <a:latin typeface="Helvetica Neue"/>
                <a:ea typeface="Helvetica Neue"/>
                <a:cs typeface="Helvetica Neue"/>
              </a:rPr>
              <a:t>01</a:t>
            </a:r>
          </a:p>
        </p:txBody>
      </p:sp>
      <p:sp>
        <p:nvSpPr>
          <p:cNvPr id="8" name="step-01-head">
            <a:extLst xmlns:a="http://schemas.openxmlformats.org/drawingml/2006/main">
              <a:ext uri="{FF2B5EF4-FFF2-40B4-BE49-F238E27FC236}">
                <a16:creationId xmlns:a16="http://schemas.microsoft.com/office/drawing/2014/main" id="{6C5C8CEC-CB0C-4B5B-9FE8-27DA5E7AA90C}"/>
              </a:ext>
            </a:extLst>
          </p:cNvPr>
          <p:cNvSpPr>
            <a:spLocks xmlns:a="http://schemas.openxmlformats.org/drawingml/2006/main" noGrp="1"/>
          </p:cNvSpPr>
          <p:nvPr/>
        </p:nvSpPr>
        <p:spPr>
          <a:xfrm xmlns:a="http://schemas.openxmlformats.org/drawingml/2006/main">
            <a:off x="1409700" y="5200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Automate</a:t>
            </a:r>
          </a:p>
        </p:txBody>
      </p:sp>
      <p:sp>
        <p:nvSpPr>
          <p:cNvPr id="9" name="step-01-body">
            <a:extLst xmlns:a="http://schemas.openxmlformats.org/drawingml/2006/main">
              <a:ext uri="{FF2B5EF4-FFF2-40B4-BE49-F238E27FC236}">
                <a16:creationId xmlns:a16="http://schemas.microsoft.com/office/drawing/2014/main" id="{BDD13449-2017-4246-936C-AFE8A50416EA}"/>
              </a:ext>
            </a:extLst>
          </p:cNvPr>
          <p:cNvSpPr>
            <a:spLocks xmlns:a="http://schemas.openxmlformats.org/drawingml/2006/main" noGrp="1"/>
          </p:cNvSpPr>
          <p:nvPr/>
        </p:nvSpPr>
        <p:spPr>
          <a:xfrm xmlns:a="http://schemas.openxmlformats.org/drawingml/2006/main">
            <a:off x="1409700" y="56197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425">
                <a:solidFill>
                  <a:srgbClr val="565C65"/>
                </a:solidFill>
                <a:latin typeface="Helvetica Neue"/>
                <a:ea typeface="Helvetica Neue"/>
                <a:cs typeface="Helvetica Neue"/>
              </a:defRPr>
            </a:pPr>
            <a:r>
              <a:rPr sz="1425">
                <a:solidFill>
                  <a:srgbClr val="565C65"/>
                </a:solidFill>
                <a:latin typeface="Helvetica Neue"/>
                <a:ea typeface="Helvetica Neue"/>
                <a:cs typeface="Helvetica Neue"/>
              </a:rPr>
              <a:t>Extract and normalize reusable evidence</a:t>
            </a:r>
          </a:p>
        </p:txBody>
      </p:sp>
      <p:sp>
        <p:nvSpPr>
          <p:cNvPr id="10" name="step-02-node">
            <a:extLst xmlns:a="http://schemas.openxmlformats.org/drawingml/2006/main">
              <a:ext uri="{FF2B5EF4-FFF2-40B4-BE49-F238E27FC236}">
                <a16:creationId xmlns:a16="http://schemas.microsoft.com/office/drawing/2014/main" id="{D26C3E38-D47B-4E74-9423-C57968AEE082}"/>
              </a:ext>
            </a:extLst>
          </p:cNvPr>
          <p:cNvSpPr>
            <a:spLocks xmlns:a="http://schemas.openxmlformats.org/drawingml/2006/main" noGrp="1"/>
          </p:cNvSpPr>
          <p:nvPr/>
        </p:nvSpPr>
        <p:spPr>
          <a:xfrm xmlns:a="http://schemas.openxmlformats.org/drawingml/2006/main">
            <a:off x="4476750" y="4857750"/>
            <a:ext cx="209550" cy="2095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11" name="step-02-number">
            <a:extLst xmlns:a="http://schemas.openxmlformats.org/drawingml/2006/main">
              <a:ext uri="{FF2B5EF4-FFF2-40B4-BE49-F238E27FC236}">
                <a16:creationId xmlns:a16="http://schemas.microsoft.com/office/drawing/2014/main" id="{78A10FB8-7DB4-49F8-8314-9247C28358A8}"/>
              </a:ext>
            </a:extLst>
          </p:cNvPr>
          <p:cNvSpPr>
            <a:spLocks xmlns:a="http://schemas.openxmlformats.org/drawingml/2006/main" noGrp="1"/>
          </p:cNvSpPr>
          <p:nvPr/>
        </p:nvSpPr>
        <p:spPr>
          <a:xfrm xmlns:a="http://schemas.openxmlformats.org/drawingml/2006/main">
            <a:off x="4476750" y="5257800"/>
            <a:ext cx="514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3D8DFF"/>
                </a:solidFill>
                <a:latin typeface="Helvetica Neue"/>
                <a:ea typeface="Helvetica Neue"/>
                <a:cs typeface="Helvetica Neue"/>
              </a:defRPr>
            </a:pPr>
            <a:r>
              <a:rPr sz="1350" b="1">
                <a:solidFill>
                  <a:srgbClr val="3D8DFF"/>
                </a:solidFill>
                <a:latin typeface="Helvetica Neue"/>
                <a:ea typeface="Helvetica Neue"/>
                <a:cs typeface="Helvetica Neue"/>
              </a:rPr>
              <a:t>02</a:t>
            </a:r>
          </a:p>
        </p:txBody>
      </p:sp>
      <p:sp>
        <p:nvSpPr>
          <p:cNvPr id="12" name="step-02-head">
            <a:extLst xmlns:a="http://schemas.openxmlformats.org/drawingml/2006/main">
              <a:ext uri="{FF2B5EF4-FFF2-40B4-BE49-F238E27FC236}">
                <a16:creationId xmlns:a16="http://schemas.microsoft.com/office/drawing/2014/main" id="{9A64FE64-1555-4861-A5D0-3AA7806AE0CC}"/>
              </a:ext>
            </a:extLst>
          </p:cNvPr>
          <p:cNvSpPr>
            <a:spLocks xmlns:a="http://schemas.openxmlformats.org/drawingml/2006/main" noGrp="1"/>
          </p:cNvSpPr>
          <p:nvPr/>
        </p:nvSpPr>
        <p:spPr>
          <a:xfrm xmlns:a="http://schemas.openxmlformats.org/drawingml/2006/main">
            <a:off x="5010150" y="5200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Review</a:t>
            </a:r>
          </a:p>
        </p:txBody>
      </p:sp>
      <p:sp>
        <p:nvSpPr>
          <p:cNvPr id="13" name="step-02-body">
            <a:extLst xmlns:a="http://schemas.openxmlformats.org/drawingml/2006/main">
              <a:ext uri="{FF2B5EF4-FFF2-40B4-BE49-F238E27FC236}">
                <a16:creationId xmlns:a16="http://schemas.microsoft.com/office/drawing/2014/main" id="{951879E1-66AE-4680-B83E-2A6CB39942C5}"/>
              </a:ext>
            </a:extLst>
          </p:cNvPr>
          <p:cNvSpPr>
            <a:spLocks xmlns:a="http://schemas.openxmlformats.org/drawingml/2006/main" noGrp="1"/>
          </p:cNvSpPr>
          <p:nvPr/>
        </p:nvSpPr>
        <p:spPr>
          <a:xfrm xmlns:a="http://schemas.openxmlformats.org/drawingml/2006/main">
            <a:off x="5010150" y="56197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425">
                <a:solidFill>
                  <a:srgbClr val="565C65"/>
                </a:solidFill>
                <a:latin typeface="Helvetica Neue"/>
                <a:ea typeface="Helvetica Neue"/>
                <a:cs typeface="Helvetica Neue"/>
              </a:defRPr>
            </a:pPr>
            <a:r>
              <a:rPr sz="1425">
                <a:solidFill>
                  <a:srgbClr val="565C65"/>
                </a:solidFill>
                <a:latin typeface="Helvetica Neue"/>
                <a:ea typeface="Helvetica Neue"/>
                <a:cs typeface="Helvetica Neue"/>
              </a:rPr>
              <a:t>Add campus scope, labels, and explanations</a:t>
            </a:r>
          </a:p>
        </p:txBody>
      </p:sp>
      <p:sp>
        <p:nvSpPr>
          <p:cNvPr id="14" name="step-03-node">
            <a:extLst xmlns:a="http://schemas.openxmlformats.org/drawingml/2006/main">
              <a:ext uri="{FF2B5EF4-FFF2-40B4-BE49-F238E27FC236}">
                <a16:creationId xmlns:a16="http://schemas.microsoft.com/office/drawing/2014/main" id="{40FB205D-9B49-49A5-9B88-EC873B225FCC}"/>
              </a:ext>
            </a:extLst>
          </p:cNvPr>
          <p:cNvSpPr>
            <a:spLocks xmlns:a="http://schemas.openxmlformats.org/drawingml/2006/main" noGrp="1"/>
          </p:cNvSpPr>
          <p:nvPr/>
        </p:nvSpPr>
        <p:spPr>
          <a:xfrm xmlns:a="http://schemas.openxmlformats.org/drawingml/2006/main">
            <a:off x="8077200" y="4857750"/>
            <a:ext cx="209550" cy="209550"/>
          </a:xfrm>
          <a:prstGeom xmlns:a="http://schemas.openxmlformats.org/drawingml/2006/main" prst="ellipse">
            <a:avLst/>
          </a:prstGeom>
          <a:solidFill xmlns:a="http://schemas.openxmlformats.org/drawingml/2006/main">
            <a:srgbClr val="111111"/>
          </a:solidFill>
          <a:ln xmlns:a="http://schemas.openxmlformats.org/drawingml/2006/main" w="0">
            <a:noFill/>
            <a:prstDash val="solid"/>
          </a:ln>
        </p:spPr>
      </p:sp>
      <p:sp>
        <p:nvSpPr>
          <p:cNvPr id="15" name="step-03-number">
            <a:extLst xmlns:a="http://schemas.openxmlformats.org/drawingml/2006/main">
              <a:ext uri="{FF2B5EF4-FFF2-40B4-BE49-F238E27FC236}">
                <a16:creationId xmlns:a16="http://schemas.microsoft.com/office/drawing/2014/main" id="{85144C01-4A66-42E8-A51C-B8EA25BCCAF5}"/>
              </a:ext>
            </a:extLst>
          </p:cNvPr>
          <p:cNvSpPr>
            <a:spLocks xmlns:a="http://schemas.openxmlformats.org/drawingml/2006/main" noGrp="1"/>
          </p:cNvSpPr>
          <p:nvPr/>
        </p:nvSpPr>
        <p:spPr>
          <a:xfrm xmlns:a="http://schemas.openxmlformats.org/drawingml/2006/main">
            <a:off x="8077200" y="5257800"/>
            <a:ext cx="514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565C65"/>
                </a:solidFill>
                <a:latin typeface="Helvetica Neue"/>
                <a:ea typeface="Helvetica Neue"/>
                <a:cs typeface="Helvetica Neue"/>
              </a:defRPr>
            </a:pPr>
            <a:r>
              <a:rPr sz="1350" b="1">
                <a:solidFill>
                  <a:srgbClr val="565C65"/>
                </a:solidFill>
                <a:latin typeface="Helvetica Neue"/>
                <a:ea typeface="Helvetica Neue"/>
                <a:cs typeface="Helvetica Neue"/>
              </a:rPr>
              <a:t>03</a:t>
            </a:r>
          </a:p>
        </p:txBody>
      </p:sp>
      <p:sp>
        <p:nvSpPr>
          <p:cNvPr id="16" name="step-03-head">
            <a:extLst xmlns:a="http://schemas.openxmlformats.org/drawingml/2006/main">
              <a:ext uri="{FF2B5EF4-FFF2-40B4-BE49-F238E27FC236}">
                <a16:creationId xmlns:a16="http://schemas.microsoft.com/office/drawing/2014/main" id="{FA67FA11-E0E3-4448-AD28-2ACE5A4CEFCF}"/>
              </a:ext>
            </a:extLst>
          </p:cNvPr>
          <p:cNvSpPr>
            <a:spLocks xmlns:a="http://schemas.openxmlformats.org/drawingml/2006/main" noGrp="1"/>
          </p:cNvSpPr>
          <p:nvPr/>
        </p:nvSpPr>
        <p:spPr>
          <a:xfrm xmlns:a="http://schemas.openxmlformats.org/drawingml/2006/main">
            <a:off x="8610600" y="5200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Publish</a:t>
            </a:r>
          </a:p>
        </p:txBody>
      </p:sp>
      <p:sp>
        <p:nvSpPr>
          <p:cNvPr id="17" name="step-03-body">
            <a:extLst xmlns:a="http://schemas.openxmlformats.org/drawingml/2006/main">
              <a:ext uri="{FF2B5EF4-FFF2-40B4-BE49-F238E27FC236}">
                <a16:creationId xmlns:a16="http://schemas.microsoft.com/office/drawing/2014/main" id="{06A0B6F6-1B3E-48C4-A15C-91BFB61D9496}"/>
              </a:ext>
            </a:extLst>
          </p:cNvPr>
          <p:cNvSpPr>
            <a:spLocks xmlns:a="http://schemas.openxmlformats.org/drawingml/2006/main" noGrp="1"/>
          </p:cNvSpPr>
          <p:nvPr/>
        </p:nvSpPr>
        <p:spPr>
          <a:xfrm xmlns:a="http://schemas.openxmlformats.org/drawingml/2006/main">
            <a:off x="8610600" y="56197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425">
                <a:solidFill>
                  <a:srgbClr val="565C65"/>
                </a:solidFill>
                <a:latin typeface="Helvetica Neue"/>
                <a:ea typeface="Helvetica Neue"/>
                <a:cs typeface="Helvetica Neue"/>
              </a:defRPr>
            </a:pPr>
            <a:r>
              <a:rPr sz="1425">
                <a:solidFill>
                  <a:srgbClr val="565C65"/>
                </a:solidFill>
                <a:latin typeface="Helvetica Neue"/>
                <a:ea typeface="Helvetica Neue"/>
                <a:cs typeface="Helvetica Neue"/>
              </a:rPr>
              <a:t>Generate one workbook per UC worksheet</a:t>
            </a:r>
          </a:p>
        </p:txBody>
      </p:sp>
    </p:spTree>
    <p:extLst>
      <p:ext uri="{BB962C8B-B14F-4D97-AF65-F5344CB8AC3E}">
        <p14:creationId xmlns:p14="http://schemas.microsoft.com/office/powerpoint/2010/main" val="154080341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lose-eyebrow">
            <a:extLst xmlns:a="http://schemas.openxmlformats.org/drawingml/2006/main">
              <a:ext uri="{FF2B5EF4-FFF2-40B4-BE49-F238E27FC236}">
                <a16:creationId xmlns:a16="http://schemas.microsoft.com/office/drawing/2014/main" id="{2AC43725-29F0-479A-898A-616498CC098A}"/>
              </a:ext>
            </a:extLst>
          </p:cNvPr>
          <p:cNvSpPr>
            <a:spLocks xmlns:a="http://schemas.openxmlformats.org/drawingml/2006/main" noGrp="1"/>
          </p:cNvSpPr>
          <p:nvPr/>
        </p:nvSpPr>
        <p:spPr>
          <a:xfrm xmlns:a="http://schemas.openxmlformats.org/drawingml/2006/main">
            <a:off x="400050" y="4000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00" b="1">
                <a:solidFill>
                  <a:srgbClr val="3D8DFF"/>
                </a:solidFill>
                <a:latin typeface="Helvetica Neue"/>
                <a:ea typeface="Helvetica Neue"/>
                <a:cs typeface="Helvetica Neue"/>
              </a:defRPr>
            </a:pPr>
            <a:r>
              <a:rPr sz="1800" b="1">
                <a:solidFill>
                  <a:srgbClr val="3D8DFF"/>
                </a:solidFill>
                <a:latin typeface="Helvetica Neue"/>
                <a:ea typeface="Helvetica Neue"/>
                <a:cs typeface="Helvetica Neue"/>
              </a:rPr>
              <a:t>THE TAKEAWAY</a:t>
            </a:r>
          </a:p>
        </p:txBody>
      </p:sp>
      <p:sp>
        <p:nvSpPr>
          <p:cNvPr id="2" name="close-title">
            <a:extLst xmlns:a="http://schemas.openxmlformats.org/drawingml/2006/main">
              <a:ext uri="{FF2B5EF4-FFF2-40B4-BE49-F238E27FC236}">
                <a16:creationId xmlns:a16="http://schemas.microsoft.com/office/drawing/2014/main" id="{7211EADD-86E9-4B82-BACF-CE0B572B2DE6}"/>
              </a:ext>
            </a:extLst>
          </p:cNvPr>
          <p:cNvSpPr>
            <a:spLocks xmlns:a="http://schemas.openxmlformats.org/drawingml/2006/main" noGrp="1"/>
          </p:cNvSpPr>
          <p:nvPr/>
        </p:nvSpPr>
        <p:spPr>
          <a:xfrm xmlns:a="http://schemas.openxmlformats.org/drawingml/2006/main">
            <a:off x="400050" y="1428750"/>
            <a:ext cx="85725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4800" b="1">
                <a:solidFill>
                  <a:srgbClr val="111111"/>
                </a:solidFill>
                <a:latin typeface="Helvetica Neue"/>
                <a:ea typeface="Helvetica Neue"/>
                <a:cs typeface="Helvetica Neue"/>
              </a:defRPr>
            </a:pPr>
            <a:r>
              <a:rPr sz="4800" b="1">
                <a:solidFill>
                  <a:srgbClr val="111111"/>
                </a:solidFill>
                <a:latin typeface="Helvetica Neue"/>
                <a:ea typeface="Helvetica Neue"/>
                <a:cs typeface="Helvetica Neue"/>
              </a:rPr>
              <a:t>Preserve the source.</a:t>
            </a:r>
          </a:p>
          <a:p xmlns:a="http://schemas.openxmlformats.org/drawingml/2006/main">
            <a:pPr>
              <a:defRPr sz="4800" b="1">
                <a:solidFill>
                  <a:srgbClr val="111111"/>
                </a:solidFill>
                <a:latin typeface="Helvetica Neue"/>
                <a:ea typeface="Helvetica Neue"/>
                <a:cs typeface="Helvetica Neue"/>
              </a:defRPr>
            </a:pPr>
            <a:r>
              <a:rPr sz="4800" b="1">
                <a:solidFill>
                  <a:srgbClr val="111111"/>
                </a:solidFill>
                <a:latin typeface="Helvetica Neue"/>
                <a:ea typeface="Helvetica Neue"/>
                <a:cs typeface="Helvetica Neue"/>
              </a:rPr>
              <a:t>Expose the logic.</a:t>
            </a:r>
          </a:p>
          <a:p xmlns:a="http://schemas.openxmlformats.org/drawingml/2006/main">
            <a:pPr>
              <a:defRPr sz="4800" b="1">
                <a:solidFill>
                  <a:srgbClr val="111111"/>
                </a:solidFill>
                <a:latin typeface="Helvetica Neue"/>
                <a:ea typeface="Helvetica Neue"/>
                <a:cs typeface="Helvetica Neue"/>
              </a:defRPr>
            </a:pPr>
            <a:r>
              <a:rPr sz="4800" b="1">
                <a:solidFill>
                  <a:srgbClr val="111111"/>
                </a:solidFill>
                <a:latin typeface="Helvetica Neue"/>
                <a:ea typeface="Helvetica Neue"/>
                <a:cs typeface="Helvetica Neue"/>
              </a:rPr>
              <a:t>Publish after review.</a:t>
            </a:r>
          </a:p>
        </p:txBody>
      </p:sp>
      <p:sp>
        <p:nvSpPr>
          <p:cNvPr id="3" name="rule-42-494">
            <a:extLst xmlns:a="http://schemas.openxmlformats.org/drawingml/2006/main">
              <a:ext uri="{FF2B5EF4-FFF2-40B4-BE49-F238E27FC236}">
                <a16:creationId xmlns:a16="http://schemas.microsoft.com/office/drawing/2014/main" id="{C8A7284E-128C-437D-8CB7-DD1A94CD3D64}"/>
              </a:ext>
            </a:extLst>
          </p:cNvPr>
          <p:cNvSpPr>
            <a:spLocks xmlns:a="http://schemas.openxmlformats.org/drawingml/2006/main" noGrp="1"/>
          </p:cNvSpPr>
          <p:nvPr/>
        </p:nvSpPr>
        <p:spPr>
          <a:xfrm xmlns:a="http://schemas.openxmlformats.org/drawingml/2006/main">
            <a:off x="400050" y="4705350"/>
            <a:ext cx="112395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close-Run-head">
            <a:extLst xmlns:a="http://schemas.openxmlformats.org/drawingml/2006/main">
              <a:ext uri="{FF2B5EF4-FFF2-40B4-BE49-F238E27FC236}">
                <a16:creationId xmlns:a16="http://schemas.microsoft.com/office/drawing/2014/main" id="{1168B5E1-A9A1-4280-A165-31A0BF1D84AD}"/>
              </a:ext>
            </a:extLst>
          </p:cNvPr>
          <p:cNvSpPr>
            <a:spLocks xmlns:a="http://schemas.openxmlformats.org/drawingml/2006/main" noGrp="1"/>
          </p:cNvSpPr>
          <p:nvPr/>
        </p:nvSpPr>
        <p:spPr>
          <a:xfrm xmlns:a="http://schemas.openxmlformats.org/drawingml/2006/main">
            <a:off x="400050" y="51054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00" b="1">
                <a:solidFill>
                  <a:srgbClr val="3D8DFF"/>
                </a:solidFill>
                <a:latin typeface="Helvetica Neue"/>
                <a:ea typeface="Helvetica Neue"/>
                <a:cs typeface="Helvetica Neue"/>
              </a:defRPr>
            </a:pPr>
            <a:r>
              <a:rPr sz="2100" b="1">
                <a:solidFill>
                  <a:srgbClr val="3D8DFF"/>
                </a:solidFill>
                <a:latin typeface="Helvetica Neue"/>
                <a:ea typeface="Helvetica Neue"/>
                <a:cs typeface="Helvetica Neue"/>
              </a:rPr>
              <a:t>Run</a:t>
            </a:r>
          </a:p>
        </p:txBody>
      </p:sp>
      <p:sp>
        <p:nvSpPr>
          <p:cNvPr id="5" name="close-Run-body">
            <a:extLst xmlns:a="http://schemas.openxmlformats.org/drawingml/2006/main">
              <a:ext uri="{FF2B5EF4-FFF2-40B4-BE49-F238E27FC236}">
                <a16:creationId xmlns:a16="http://schemas.microsoft.com/office/drawing/2014/main" id="{DEE4E54C-EAC4-43CA-A00A-4275BFC23C31}"/>
              </a:ext>
            </a:extLst>
          </p:cNvPr>
          <p:cNvSpPr>
            <a:spLocks xmlns:a="http://schemas.openxmlformats.org/drawingml/2006/main" noGrp="1"/>
          </p:cNvSpPr>
          <p:nvPr/>
        </p:nvSpPr>
        <p:spPr>
          <a:xfrm xmlns:a="http://schemas.openxmlformats.org/drawingml/2006/main">
            <a:off x="400050" y="5543550"/>
            <a:ext cx="3143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Parse a new .catalog archive</a:t>
            </a:r>
          </a:p>
        </p:txBody>
      </p:sp>
      <p:sp>
        <p:nvSpPr>
          <p:cNvPr id="6" name="close-Review-head">
            <a:extLst xmlns:a="http://schemas.openxmlformats.org/drawingml/2006/main">
              <a:ext uri="{FF2B5EF4-FFF2-40B4-BE49-F238E27FC236}">
                <a16:creationId xmlns:a16="http://schemas.microsoft.com/office/drawing/2014/main" id="{6F4D1E4A-0705-4E84-BF81-14D5636B1EFB}"/>
              </a:ext>
            </a:extLst>
          </p:cNvPr>
          <p:cNvSpPr>
            <a:spLocks xmlns:a="http://schemas.openxmlformats.org/drawingml/2006/main" noGrp="1"/>
          </p:cNvSpPr>
          <p:nvPr/>
        </p:nvSpPr>
        <p:spPr>
          <a:xfrm xmlns:a="http://schemas.openxmlformats.org/drawingml/2006/main">
            <a:off x="4095750" y="51054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00" b="1">
                <a:solidFill>
                  <a:srgbClr val="3D8DFF"/>
                </a:solidFill>
                <a:latin typeface="Helvetica Neue"/>
                <a:ea typeface="Helvetica Neue"/>
                <a:cs typeface="Helvetica Neue"/>
              </a:defRPr>
            </a:pPr>
            <a:r>
              <a:rPr sz="2100" b="1">
                <a:solidFill>
                  <a:srgbClr val="3D8DFF"/>
                </a:solidFill>
                <a:latin typeface="Helvetica Neue"/>
                <a:ea typeface="Helvetica Neue"/>
                <a:cs typeface="Helvetica Neue"/>
              </a:rPr>
              <a:t>Review</a:t>
            </a:r>
          </a:p>
        </p:txBody>
      </p:sp>
      <p:sp>
        <p:nvSpPr>
          <p:cNvPr id="7" name="close-Review-body">
            <a:extLst xmlns:a="http://schemas.openxmlformats.org/drawingml/2006/main">
              <a:ext uri="{FF2B5EF4-FFF2-40B4-BE49-F238E27FC236}">
                <a16:creationId xmlns:a16="http://schemas.microsoft.com/office/drawing/2014/main" id="{36B80BB9-B90D-4D97-A0D7-2F5AA090035C}"/>
              </a:ext>
            </a:extLst>
          </p:cNvPr>
          <p:cNvSpPr>
            <a:spLocks xmlns:a="http://schemas.openxmlformats.org/drawingml/2006/main" noGrp="1"/>
          </p:cNvSpPr>
          <p:nvPr/>
        </p:nvSpPr>
        <p:spPr>
          <a:xfrm xmlns:a="http://schemas.openxmlformats.org/drawingml/2006/main">
            <a:off x="4095750" y="5543550"/>
            <a:ext cx="3143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Check rules and unresolved references</a:t>
            </a:r>
          </a:p>
        </p:txBody>
      </p:sp>
      <p:sp>
        <p:nvSpPr>
          <p:cNvPr id="8" name="close-Publish-head">
            <a:extLst xmlns:a="http://schemas.openxmlformats.org/drawingml/2006/main">
              <a:ext uri="{FF2B5EF4-FFF2-40B4-BE49-F238E27FC236}">
                <a16:creationId xmlns:a16="http://schemas.microsoft.com/office/drawing/2014/main" id="{4D4E9FF8-0443-4868-9FC2-8E0A88C8CA01}"/>
              </a:ext>
            </a:extLst>
          </p:cNvPr>
          <p:cNvSpPr>
            <a:spLocks xmlns:a="http://schemas.openxmlformats.org/drawingml/2006/main" noGrp="1"/>
          </p:cNvSpPr>
          <p:nvPr/>
        </p:nvSpPr>
        <p:spPr>
          <a:xfrm xmlns:a="http://schemas.openxmlformats.org/drawingml/2006/main">
            <a:off x="7791450" y="51054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00" b="1">
                <a:solidFill>
                  <a:srgbClr val="3D8DFF"/>
                </a:solidFill>
                <a:latin typeface="Helvetica Neue"/>
                <a:ea typeface="Helvetica Neue"/>
                <a:cs typeface="Helvetica Neue"/>
              </a:defRPr>
            </a:pPr>
            <a:r>
              <a:rPr sz="2100" b="1">
                <a:solidFill>
                  <a:srgbClr val="3D8DFF"/>
                </a:solidFill>
                <a:latin typeface="Helvetica Neue"/>
                <a:ea typeface="Helvetica Neue"/>
                <a:cs typeface="Helvetica Neue"/>
              </a:rPr>
              <a:t>Publish</a:t>
            </a:r>
          </a:p>
        </p:txBody>
      </p:sp>
      <p:sp>
        <p:nvSpPr>
          <p:cNvPr id="9" name="close-Publish-body">
            <a:extLst xmlns:a="http://schemas.openxmlformats.org/drawingml/2006/main">
              <a:ext uri="{FF2B5EF4-FFF2-40B4-BE49-F238E27FC236}">
                <a16:creationId xmlns:a16="http://schemas.microsoft.com/office/drawing/2014/main" id="{020FAA90-6F6B-40CD-B48F-A192DF6CD486}"/>
              </a:ext>
            </a:extLst>
          </p:cNvPr>
          <p:cNvSpPr>
            <a:spLocks xmlns:a="http://schemas.openxmlformats.org/drawingml/2006/main" noGrp="1"/>
          </p:cNvSpPr>
          <p:nvPr/>
        </p:nvSpPr>
        <p:spPr>
          <a:xfrm xmlns:a="http://schemas.openxmlformats.org/drawingml/2006/main">
            <a:off x="7791450" y="5543550"/>
            <a:ext cx="3143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Create campus-specific workbooks</a:t>
            </a:r>
          </a:p>
        </p:txBody>
      </p:sp>
    </p:spTree>
    <p:extLst>
      <p:ext uri="{BB962C8B-B14F-4D97-AF65-F5344CB8AC3E}">
        <p14:creationId xmlns:p14="http://schemas.microsoft.com/office/powerpoint/2010/main" val="72360947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2026-08-11T22:10:54.0540000Z</dcterms:created>
  <dcterms:modified xsi:type="dcterms:W3CDTF">2026-08-11T22:10:54.0540000Z</dcterms:modified>
</coreProperties>
</file>