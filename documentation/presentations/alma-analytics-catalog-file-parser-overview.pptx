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67" r:id="rId3"/>
    <p:sldId id="264" r:id="rId4"/>
    <p:sldId id="257" r:id="rId5"/>
    <p:sldId id="266" r:id="rId6"/>
    <p:sldId id="263" r:id="rId7"/>
    <p:sldId id="265" r:id="rId8"/>
    <p:sldId id="258" r:id="rId9"/>
    <p:sldId id="259" r:id="rId10"/>
    <p:sldId id="260" r:id="rId11"/>
    <p:sldId id="261"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06"/>
  </p:normalViewPr>
  <p:slideViewPr>
    <p:cSldViewPr snapToGrid="0">
      <p:cViewPr>
        <p:scale>
          <a:sx n="106" d="100"/>
          <a:sy n="106" d="100"/>
        </p:scale>
        <p:origin x="144"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project makes an Alma Analytics catalog understandable outside the Alma interface. A catalog file is really a bundle of XML objects: reports, saved columns, saved filters, dashboards, and related metadata. The parser turns that bundle into a set of inspectable, spreadsheet-friendly outputs while retaining the complete XML for deeper analysis. In the next five minutes, I’ll show the problem it solves, how the pipeline works, what the current example produces, and where human review fits before campus documentation is published.</a:t>
            </a:r>
          </a:p>
          <a:p>
            <a:r>
              <a:rPr dirty="0"/>
              <a:t>[Sources]</a:t>
            </a:r>
          </a:p>
          <a:p>
            <a:r>
              <a:rPr dirty="0"/>
              <a:t>- </a:t>
            </a:r>
            <a:r>
              <a:rPr dirty="0" err="1"/>
              <a:t>README.md</a:t>
            </a:r>
            <a:r>
              <a:rPr dirty="0"/>
              <a:t> — project purpose and documented workflow (local repository).</a:t>
            </a:r>
          </a:p>
          <a:p>
            <a:r>
              <a:rPr dirty="0"/>
              <a:t>- data/examples/annual_stats_fy_2025_2026.catalog — representative source archive (local repository).</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740E6-9CFE-0115-F901-99D2B0B4B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5AD02-19DC-1E94-613B-F44CF2EC9A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FD869-89C9-CA2C-4F9C-62A8A8954168}"/>
              </a:ext>
            </a:extLst>
          </p:cNvPr>
          <p:cNvSpPr>
            <a:spLocks noGrp="1"/>
          </p:cNvSpPr>
          <p:nvPr>
            <p:ph type="body" idx="1"/>
          </p:nvPr>
        </p:nvSpPr>
        <p:spPr/>
        <p:txBody>
          <a:bodyPr/>
          <a:lstStyle/>
          <a:p>
            <a:r>
              <a:rPr dirty="0"/>
              <a:t>This project makes an Alma Analytics catalog understandable outside the Alma interface. A catalog file is really a bundle of XML objects: reports, saved columns, saved filters, dashboards, and related metadata. The parser turns that bundle into a set of inspectable, spreadsheet-friendly outputs while retaining the complete XML for deeper analysis. In the next five minutes, I’ll show the problem it solves, how the pipeline works, what the current example produces, and where human review fits before campus documentation is published.</a:t>
            </a:r>
          </a:p>
          <a:p>
            <a:r>
              <a:rPr dirty="0"/>
              <a:t>[Sources]</a:t>
            </a:r>
          </a:p>
          <a:p>
            <a:r>
              <a:rPr dirty="0"/>
              <a:t>- </a:t>
            </a:r>
            <a:r>
              <a:rPr dirty="0" err="1"/>
              <a:t>README.md</a:t>
            </a:r>
            <a:r>
              <a:rPr dirty="0"/>
              <a:t> — project purpose and documented workflow (local repository).</a:t>
            </a:r>
          </a:p>
          <a:p>
            <a:r>
              <a:rPr dirty="0"/>
              <a:t>- data/examples/annual_stats_fy_2025_2026.catalog — representative source archive (local repository).</a:t>
            </a:r>
          </a:p>
          <a:p>
            <a:r>
              <a:rPr dirty="0"/>
              <a:t>[/Sources]</a:t>
            </a:r>
          </a:p>
        </p:txBody>
      </p:sp>
      <p:sp>
        <p:nvSpPr>
          <p:cNvPr id="4" name="Slide Number Placeholder 3">
            <a:extLst>
              <a:ext uri="{FF2B5EF4-FFF2-40B4-BE49-F238E27FC236}">
                <a16:creationId xmlns:a16="http://schemas.microsoft.com/office/drawing/2014/main" id="{49AA8A35-E3A6-04F2-C7EC-3656A64D342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678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E0CFB-3119-691D-9F27-33F4B4A2F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255E5-11D5-4A6B-4561-A9AB18F20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FEAEA4-C507-F85B-C688-78C0425A6F9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1420F9C-52B4-EB41-96BB-5007220C499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65653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785A1-D4EF-7EAF-5474-ADC0904673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1046B-EF44-9BC5-EF37-EEA39F3403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40F55-6432-3440-6917-8C0FEAB4624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471E9F0-1394-6C91-EF9E-C490E3B12EB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29334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61BF2-4DB0-1998-7BBD-DA77FA248A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27603-CAA5-A9B6-4247-D08FF2995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D45AE-B086-5EC2-1C86-70FF47E5B6D0}"/>
              </a:ext>
            </a:extLst>
          </p:cNvPr>
          <p:cNvSpPr>
            <a:spLocks noGrp="1"/>
          </p:cNvSpPr>
          <p:nvPr>
            <p:ph type="body" idx="1"/>
          </p:nvPr>
        </p:nvSpPr>
        <p:spPr/>
        <p:txBody>
          <a:bodyPr/>
          <a:lstStyle/>
          <a:p>
            <a:r>
              <a:rPr dirty="0"/>
              <a:t>The core problem is opacity. Inside Alma, a report may reference saved objects that live elsewhere in a shared catalog tree, and the underlying rules can be buried in nested XML. That makes it difficult to answer simple governance questions: Which objects exist? Which reports depend on which saved definitions? What does a filter or binned column actually do? The project starts by reading every object and aligning its XML with catalog metadata such as title, path, type, ownership, and timestamps. It preserves folder context, but excludes folder-only rows so the working dataset stays focused on executable or inspectable objects.</a:t>
            </a:r>
          </a:p>
          <a:p>
            <a:r>
              <a:rPr dirty="0"/>
              <a:t>[Sources]</a:t>
            </a:r>
          </a:p>
          <a:p>
            <a:r>
              <a:rPr dirty="0"/>
              <a:t>- </a:t>
            </a:r>
            <a:r>
              <a:rPr dirty="0" err="1"/>
              <a:t>README.md</a:t>
            </a:r>
            <a:r>
              <a:rPr dirty="0"/>
              <a:t> — shared extraction and catalog object tree sections.</a:t>
            </a:r>
          </a:p>
          <a:p>
            <a:r>
              <a:rPr dirty="0"/>
              <a:t>- R/io/</a:t>
            </a:r>
            <a:r>
              <a:rPr dirty="0" err="1"/>
              <a:t>read_catalog_file.R</a:t>
            </a:r>
            <a:r>
              <a:rPr dirty="0"/>
              <a:t> and R/io/</a:t>
            </a:r>
            <a:r>
              <a:rPr dirty="0" err="1"/>
              <a:t>read_catalog_metadata.R</a:t>
            </a:r>
            <a:r>
              <a:rPr dirty="0"/>
              <a:t> — catalog/XML readers.</a:t>
            </a:r>
          </a:p>
          <a:p>
            <a:r>
              <a:rPr dirty="0"/>
              <a:t>- documentation/images/</a:t>
            </a:r>
            <a:r>
              <a:rPr dirty="0" err="1"/>
              <a:t>catalog_object_tree.png</a:t>
            </a:r>
            <a:r>
              <a:rPr dirty="0"/>
              <a:t> — repository-generated hierarchy visual.</a:t>
            </a:r>
          </a:p>
          <a:p>
            <a:r>
              <a:rPr dirty="0"/>
              <a:t>[/Sources]</a:t>
            </a:r>
          </a:p>
        </p:txBody>
      </p:sp>
      <p:sp>
        <p:nvSpPr>
          <p:cNvPr id="4" name="Slide Number Placeholder 3">
            <a:extLst>
              <a:ext uri="{FF2B5EF4-FFF2-40B4-BE49-F238E27FC236}">
                <a16:creationId xmlns:a16="http://schemas.microsoft.com/office/drawing/2014/main" id="{8106A13C-202E-18C6-9653-8C29A290DFF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25136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6120C-4083-03B4-9A5C-A6A04E67C4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C3B13-2D00-C700-5861-118E389BF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714125-BD39-AE48-6731-DE645F3810E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21B2090-42BB-2143-4C21-39B96C49899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03498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automated parser is intentionally a single pipeline with reusable stages. A command-line script or an optional RStudio file chooser selects a dot-catalog file. Shared extraction creates an RDS file containing metadata plus full XML, and a CSV summary without the large XML text. Inspection branches inventory metadata patterns and XML tags. The two main parsing branches then normalize columns and filters. Finally, the dependency exporter links reports to referenced saved columns and saved filters and records whether each target resolves inside the same extract. Branches are conditional, so catalogs without a relevant object type skip outputs they do not need.</a:t>
            </a:r>
          </a:p>
          <a:p>
            <a:r>
              <a:t>[Sources]</a:t>
            </a:r>
          </a:p>
          <a:p>
            <a:r>
              <a:t>- R/run_parsing_pipeline.R — orchestration and conditional branches.</a:t>
            </a:r>
          </a:p>
          <a:p>
            <a:r>
              <a:t>- scripts/run_parsing_pipeline.R and scripts/choose_catalog_file_and_run_pipeline.R — entry points.</a:t>
            </a:r>
          </a:p>
          <a:p>
            <a:r>
              <a:t>- documentation/images/run_parser_pipeline_diagram.png — repository-generated pipeline visual.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annual-statistics example shows the scale and the reason normalization matters. It contains 308 catalog objects. Parsing yields 761 column records and 315 filter records, including both report-embedded logic and standalone saved definitions. Those records expand into 903 column rules and 323 readable filter rules. The dependency table contains 450 distinct report-to-saved-object relationships. The largest expansion is the filter value list: 150,880 individual values are separated from long IN and NOT IN expressions. That keeps the main rule tables readable without discarding the detailed criteria needed for validation.</a:t>
            </a:r>
          </a:p>
          <a:p>
            <a:r>
              <a:t>[Sources]</a:t>
            </a:r>
          </a:p>
          <a:p>
            <a:r>
              <a:t>- output/catalog_extract_summary.csv, output/columns.csv, output/filters.csv, and output/report_dependencies.csv — observed row counts.</a:t>
            </a:r>
          </a:p>
          <a:p>
            <a:r>
              <a:t>- output/column_rules.csv, output/filter_rules.csv, and output/filter_value_lists.csv — observed normalized-rule and value-list row counts.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key design choice is to preserve references instead of flattening everything. Report rows identify inline logic and references to saved objects. Standalone saved columns and saved filters remain in the outputs even when no report currently references them. When a report does reference a saved definition, the dependency export records the path and whether a matching object was found in the catalog. This makes unresolved references visible and avoids duplicating a saved rule into every consuming report. The same extract can also reveal explicit dashboard-to-page-to-report relationships, complementing the folder hierarchy with actual object references.</a:t>
            </a:r>
          </a:p>
          <a:p>
            <a:r>
              <a:rPr dirty="0"/>
              <a:t>[Sources]</a:t>
            </a:r>
          </a:p>
          <a:p>
            <a:r>
              <a:rPr dirty="0"/>
              <a:t>- </a:t>
            </a:r>
            <a:r>
              <a:rPr dirty="0" err="1"/>
              <a:t>README.md</a:t>
            </a:r>
            <a:r>
              <a:rPr dirty="0"/>
              <a:t> — column, filter, dependency, and dashboard relationship behavior.</a:t>
            </a:r>
          </a:p>
          <a:p>
            <a:r>
              <a:rPr dirty="0"/>
              <a:t>- R/extract/</a:t>
            </a:r>
            <a:r>
              <a:rPr dirty="0" err="1"/>
              <a:t>extract_columns.R</a:t>
            </a:r>
            <a:r>
              <a:rPr dirty="0"/>
              <a:t>, R/extract/</a:t>
            </a:r>
            <a:r>
              <a:rPr dirty="0" err="1"/>
              <a:t>extract_filters.R</a:t>
            </a:r>
            <a:r>
              <a:rPr dirty="0"/>
              <a:t>, and R/export/</a:t>
            </a:r>
            <a:r>
              <a:rPr dirty="0" err="1"/>
              <a:t>export_report_dependencies.R</a:t>
            </a:r>
            <a:r>
              <a:rPr dirty="0"/>
              <a:t> — implementation.</a:t>
            </a:r>
          </a:p>
          <a:p>
            <a:r>
              <a:rPr dirty="0"/>
              <a:t>- documentation/images/</a:t>
            </a:r>
            <a:r>
              <a:rPr dirty="0" err="1"/>
              <a:t>preparation_review_dashboard_relationships.png</a:t>
            </a:r>
            <a:r>
              <a:rPr dirty="0"/>
              <a:t> — repository-generated relationship visual.</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automated parser stops at general-purpose evidence. Publication is a separate, reviewed workflow. A normalized workbook combines saved-column and filter rules with human-maintained fields such as domain, campus scope, review labels, explanations, and campus-specific selection. The publication exporter refreshes saved-column criterion text from the latest parser output, while preserving those manual decisions. It then creates one exclusions-documentation workbook for each worksheet whose name begins with UC. This boundary is deliberate: code handles repeatable extraction and formatting, while subject-matter reviewers remain responsible for classification and interpretation.</a:t>
            </a:r>
          </a:p>
          <a:p>
            <a:r>
              <a:rPr dirty="0"/>
              <a:t>[Sources]</a:t>
            </a:r>
          </a:p>
          <a:p>
            <a:r>
              <a:rPr dirty="0"/>
              <a:t>- </a:t>
            </a:r>
            <a:r>
              <a:rPr dirty="0" err="1"/>
              <a:t>README.md</a:t>
            </a:r>
            <a:r>
              <a:rPr dirty="0"/>
              <a:t> — reviewed publication workflow.</a:t>
            </a:r>
          </a:p>
          <a:p>
            <a:r>
              <a:rPr dirty="0"/>
              <a:t>- scripts/</a:t>
            </a:r>
            <a:r>
              <a:rPr dirty="0" err="1"/>
              <a:t>export_documentation</a:t>
            </a:r>
            <a:r>
              <a:rPr dirty="0"/>
              <a:t>/</a:t>
            </a:r>
            <a:r>
              <a:rPr dirty="0" err="1"/>
              <a:t>export_exclusions_documentation.R</a:t>
            </a:r>
            <a:r>
              <a:rPr dirty="0"/>
              <a:t> — campus workbook publication logic.</a:t>
            </a:r>
          </a:p>
          <a:p>
            <a:r>
              <a:rPr dirty="0"/>
              <a:t>- documentation/images/</a:t>
            </a:r>
            <a:r>
              <a:rPr dirty="0" err="1"/>
              <a:t>run_report_builder_pipeline_diagram.png</a:t>
            </a:r>
            <a:r>
              <a:rPr dirty="0"/>
              <a:t> — repository-generated publication workflow visual.</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short, the project provides three durable capabilities. First, it preserves a faithful machine-readable extract of the catalog. Second, it translates column, filter, and dependency logic into tables that people can review and test. Third, it supports a controlled handoff from automated evidence to campus-specific documentation. The current base-R fixture assertions pass, providing a lightweight verification path even when the optional testthat package is unavailable. The practical next step is to run the parser on a new catalog, review unresolved references and normalized rules, and only then publish the campus workbooks.</a:t>
            </a:r>
          </a:p>
          <a:p>
            <a:r>
              <a:t>[Sources]</a:t>
            </a:r>
          </a:p>
          <a:p>
            <a:r>
              <a:t>- README.md — documented operating workflow and outputs.</a:t>
            </a:r>
          </a:p>
          <a:p>
            <a:r>
              <a:t>- tests/testthat.R — fallback test runner; base-R fixture assertions observed passing on 2026-08-11.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cover-eyebrow">
            <a:extLst>
              <a:ext uri="{FF2B5EF4-FFF2-40B4-BE49-F238E27FC236}">
                <a16:creationId xmlns:a16="http://schemas.microsoft.com/office/drawing/2014/main" id="{57AE0D30-F36A-474F-993E-290C6FA69CE6}"/>
              </a:ext>
            </a:extLst>
          </p:cNvPr>
          <p:cNvSpPr>
            <a:spLocks noGrp="1"/>
          </p:cNvSpPr>
          <p:nvPr/>
        </p:nvSpPr>
        <p:spPr>
          <a:xfrm>
            <a:off x="400050" y="400050"/>
            <a:ext cx="3429000" cy="361950"/>
          </a:xfrm>
          <a:prstGeom prst="rect">
            <a:avLst/>
          </a:prstGeom>
          <a:noFill/>
          <a:ln w="0">
            <a:noFill/>
            <a:prstDash val="solid"/>
          </a:ln>
        </p:spPr>
        <p:txBody>
          <a:bodyPr anchor="t"/>
          <a:lstStyle/>
          <a:p>
            <a:pPr>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PROJECT OVERVIEW</a:t>
            </a:r>
          </a:p>
        </p:txBody>
      </p:sp>
      <p:sp>
        <p:nvSpPr>
          <p:cNvPr id="2" name="cover-title">
            <a:extLst>
              <a:ext uri="{FF2B5EF4-FFF2-40B4-BE49-F238E27FC236}">
                <a16:creationId xmlns:a16="http://schemas.microsoft.com/office/drawing/2014/main" id="{40FA616F-2374-404F-A2EB-8C4F96EDB695}"/>
              </a:ext>
            </a:extLst>
          </p:cNvPr>
          <p:cNvSpPr>
            <a:spLocks noGrp="1"/>
          </p:cNvSpPr>
          <p:nvPr/>
        </p:nvSpPr>
        <p:spPr>
          <a:xfrm>
            <a:off x="400050" y="1676400"/>
            <a:ext cx="9334500" cy="2266950"/>
          </a:xfrm>
          <a:prstGeom prst="rect">
            <a:avLst/>
          </a:prstGeom>
          <a:noFill/>
          <a:ln w="0">
            <a:noFill/>
            <a:prstDash val="solid"/>
          </a:ln>
        </p:spPr>
        <p:txBody>
          <a:bodyPr anchor="t"/>
          <a:lstStyle/>
          <a:p>
            <a:pPr>
              <a:lnSpc>
                <a:spcPct val="90000"/>
              </a:lnSpc>
              <a:buNone/>
              <a:defRPr sz="6000" b="1">
                <a:solidFill>
                  <a:srgbClr val="111111"/>
                </a:solidFill>
                <a:latin typeface="Helvetica Neue"/>
                <a:ea typeface="Helvetica Neue"/>
                <a:cs typeface="Helvetica Neue"/>
              </a:defRPr>
            </a:pPr>
            <a:r>
              <a:rPr sz="6000" b="1" dirty="0">
                <a:solidFill>
                  <a:srgbClr val="111111"/>
                </a:solidFill>
                <a:latin typeface="Helvetica Neue"/>
                <a:ea typeface="Helvetica Neue"/>
                <a:cs typeface="Helvetica Neue"/>
              </a:rPr>
              <a:t>Alma Analytics</a:t>
            </a:r>
          </a:p>
          <a:p>
            <a:pPr>
              <a:lnSpc>
                <a:spcPct val="90000"/>
              </a:lnSpc>
              <a:buNone/>
              <a:defRPr sz="6000" b="1">
                <a:solidFill>
                  <a:srgbClr val="111111"/>
                </a:solidFill>
                <a:latin typeface="Helvetica Neue"/>
                <a:ea typeface="Helvetica Neue"/>
                <a:cs typeface="Helvetica Neue"/>
              </a:defRPr>
            </a:pPr>
            <a:r>
              <a:rPr lang="en-US" sz="6000" b="1" dirty="0">
                <a:solidFill>
                  <a:srgbClr val="111111"/>
                </a:solidFill>
                <a:latin typeface="Helvetica Neue"/>
                <a:ea typeface="Helvetica Neue"/>
                <a:cs typeface="Helvetica Neue"/>
              </a:rPr>
              <a:t>.</a:t>
            </a:r>
            <a:r>
              <a:rPr sz="6000" b="1" dirty="0">
                <a:solidFill>
                  <a:srgbClr val="111111"/>
                </a:solidFill>
                <a:latin typeface="Helvetica Neue"/>
                <a:ea typeface="Helvetica Neue"/>
                <a:cs typeface="Helvetica Neue"/>
              </a:rPr>
              <a:t>catalog file parser</a:t>
            </a:r>
          </a:p>
        </p:txBody>
      </p:sp>
      <p:sp>
        <p:nvSpPr>
          <p:cNvPr id="3" name="cover-subtitle">
            <a:extLst>
              <a:ext uri="{FF2B5EF4-FFF2-40B4-BE49-F238E27FC236}">
                <a16:creationId xmlns:a16="http://schemas.microsoft.com/office/drawing/2014/main" id="{8DC35C69-1273-42BE-BCFB-656445B62B44}"/>
              </a:ext>
            </a:extLst>
          </p:cNvPr>
          <p:cNvSpPr>
            <a:spLocks noGrp="1"/>
          </p:cNvSpPr>
          <p:nvPr/>
        </p:nvSpPr>
        <p:spPr>
          <a:xfrm>
            <a:off x="400050" y="4762500"/>
            <a:ext cx="7810500" cy="876300"/>
          </a:xfrm>
          <a:prstGeom prst="rect">
            <a:avLst/>
          </a:prstGeom>
          <a:noFill/>
          <a:ln w="0">
            <a:noFill/>
            <a:prstDash val="solid"/>
          </a:ln>
        </p:spPr>
        <p:txBody>
          <a:bodyPr anchor="t"/>
          <a:lstStyle/>
          <a:p>
            <a:pPr>
              <a:defRPr sz="2250">
                <a:solidFill>
                  <a:srgbClr val="565C65"/>
                </a:solidFill>
                <a:latin typeface="Helvetica Neue"/>
                <a:ea typeface="Helvetica Neue"/>
                <a:cs typeface="Helvetica Neue"/>
              </a:defRPr>
            </a:pPr>
            <a:r>
              <a:rPr sz="2250" dirty="0">
                <a:solidFill>
                  <a:srgbClr val="565C65"/>
                </a:solidFill>
                <a:latin typeface="Helvetica Neue"/>
                <a:ea typeface="Helvetica Neue"/>
                <a:cs typeface="Helvetica Neue"/>
              </a:rPr>
              <a:t>From opaque catalog XML to reviewable rules, dependencies, and campus documentation</a:t>
            </a:r>
          </a:p>
        </p:txBody>
      </p:sp>
      <p:sp>
        <p:nvSpPr>
          <p:cNvPr id="4" name="cover-accent">
            <a:extLst>
              <a:ext uri="{FF2B5EF4-FFF2-40B4-BE49-F238E27FC236}">
                <a16:creationId xmlns:a16="http://schemas.microsoft.com/office/drawing/2014/main" id="{F3D6E3F0-7A41-4C00-89AF-B9F94F301055}"/>
              </a:ext>
            </a:extLst>
          </p:cNvPr>
          <p:cNvSpPr>
            <a:spLocks noGrp="1"/>
          </p:cNvSpPr>
          <p:nvPr/>
        </p:nvSpPr>
        <p:spPr>
          <a:xfrm>
            <a:off x="10668000" y="0"/>
            <a:ext cx="1524000" cy="6858000"/>
          </a:xfrm>
          <a:prstGeom prst="rect">
            <a:avLst/>
          </a:prstGeom>
          <a:solidFill>
            <a:srgbClr val="D0EDFA"/>
          </a:solidFill>
          <a:ln w="0">
            <a:noFill/>
            <a:prstDash val="solid"/>
          </a:ln>
        </p:spPr>
        <p:txBody>
          <a:bodyPr/>
          <a:lstStyle/>
          <a:p>
            <a:endParaRPr lang="en-US"/>
          </a:p>
        </p:txBody>
      </p:sp>
      <p:sp>
        <p:nvSpPr>
          <p:cNvPr id="5" name="cover-accent-strong">
            <a:extLst>
              <a:ext uri="{FF2B5EF4-FFF2-40B4-BE49-F238E27FC236}">
                <a16:creationId xmlns:a16="http://schemas.microsoft.com/office/drawing/2014/main" id="{EA1FB189-337D-4996-81C7-6CA9EB65DB1A}"/>
              </a:ext>
            </a:extLst>
          </p:cNvPr>
          <p:cNvSpPr>
            <a:spLocks noGrp="1"/>
          </p:cNvSpPr>
          <p:nvPr/>
        </p:nvSpPr>
        <p:spPr>
          <a:xfrm>
            <a:off x="11315700" y="0"/>
            <a:ext cx="876300" cy="6858000"/>
          </a:xfrm>
          <a:prstGeom prst="rect">
            <a:avLst/>
          </a:prstGeom>
          <a:solidFill>
            <a:srgbClr val="3D8DFF"/>
          </a:solidFill>
          <a:ln w="0">
            <a:noFill/>
            <a:prstDash val="solid"/>
          </a:ln>
        </p:spPr>
        <p:txBody>
          <a:bodyPr/>
          <a:lstStyle/>
          <a:p>
            <a:endParaRPr lang="en-US"/>
          </a:p>
        </p:txBody>
      </p:sp>
      <p:pic>
        <p:nvPicPr>
          <p:cNvPr id="7" name="Picture 6">
            <a:extLst>
              <a:ext uri="{FF2B5EF4-FFF2-40B4-BE49-F238E27FC236}">
                <a16:creationId xmlns:a16="http://schemas.microsoft.com/office/drawing/2014/main" id="{4A7BE672-18C6-B40A-1411-64E6234727DC}"/>
              </a:ext>
              <a:ext uri="{C183D7F6-B498-43B3-948B-1728B52AA6E4}">
                <adec:decorative xmlns:adec="http://schemas.microsoft.com/office/drawing/2017/decorative" val="1"/>
              </a:ext>
            </a:extLst>
          </p:cNvPr>
          <p:cNvPicPr>
            <a:picLocks noChangeAspect="1"/>
          </p:cNvPicPr>
          <p:nvPr/>
        </p:nvPicPr>
        <p:blipFill>
          <a:blip r:embed="rId3"/>
          <a:srcRect l="5423" b="7181"/>
          <a:stretch>
            <a:fillRect/>
          </a:stretch>
        </p:blipFill>
        <p:spPr>
          <a:xfrm>
            <a:off x="7467834" y="4113119"/>
            <a:ext cx="3200166" cy="2513480"/>
          </a:xfrm>
          <a:prstGeom prst="rect">
            <a:avLst/>
          </a:prstGeom>
        </p:spPr>
      </p:pic>
    </p:spTree>
    <p:extLst>
      <p:ext uri="{BB962C8B-B14F-4D97-AF65-F5344CB8AC3E}">
        <p14:creationId xmlns:p14="http://schemas.microsoft.com/office/powerpoint/2010/main" val="956962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58397D4-B820-2D50-4554-6BB7DC00A481}"/>
            </a:ext>
          </a:extLst>
        </p:cNvPr>
        <p:cNvGrpSpPr/>
        <p:nvPr/>
      </p:nvGrpSpPr>
      <p:grpSpPr>
        <a:xfrm>
          <a:off x="0" y="0"/>
          <a:ext cx="0" cy="0"/>
          <a:chOff x="0" y="0"/>
          <a:chExt cx="0" cy="0"/>
        </a:xfrm>
      </p:grpSpPr>
      <p:sp>
        <p:nvSpPr>
          <p:cNvPr id="6" name="cover-eyebrow">
            <a:extLst>
              <a:ext uri="{FF2B5EF4-FFF2-40B4-BE49-F238E27FC236}">
                <a16:creationId xmlns:a16="http://schemas.microsoft.com/office/drawing/2014/main" id="{E77EA5FD-3C1F-FFC7-B144-0D3693C98E3F}"/>
              </a:ext>
            </a:extLst>
          </p:cNvPr>
          <p:cNvSpPr>
            <a:spLocks noGrp="1"/>
          </p:cNvSpPr>
          <p:nvPr/>
        </p:nvSpPr>
        <p:spPr>
          <a:xfrm>
            <a:off x="400050" y="400050"/>
            <a:ext cx="3429000" cy="361950"/>
          </a:xfrm>
          <a:prstGeom prst="rect">
            <a:avLst/>
          </a:prstGeom>
          <a:noFill/>
          <a:ln w="0">
            <a:noFill/>
            <a:prstDash val="solid"/>
          </a:ln>
        </p:spPr>
        <p:txBody>
          <a:bodyPr anchor="t"/>
          <a:lstStyle/>
          <a:p>
            <a:pPr>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PROJECT OVERVIEW</a:t>
            </a:r>
          </a:p>
        </p:txBody>
      </p:sp>
      <p:sp>
        <p:nvSpPr>
          <p:cNvPr id="2" name="cover-title">
            <a:extLst>
              <a:ext uri="{FF2B5EF4-FFF2-40B4-BE49-F238E27FC236}">
                <a16:creationId xmlns:a16="http://schemas.microsoft.com/office/drawing/2014/main" id="{83174AAE-AB8B-C34E-F737-10BA311E5CAC}"/>
              </a:ext>
            </a:extLst>
          </p:cNvPr>
          <p:cNvSpPr>
            <a:spLocks noGrp="1"/>
          </p:cNvSpPr>
          <p:nvPr/>
        </p:nvSpPr>
        <p:spPr>
          <a:xfrm>
            <a:off x="400050" y="2459477"/>
            <a:ext cx="9334500" cy="1241898"/>
          </a:xfrm>
          <a:prstGeom prst="rect">
            <a:avLst/>
          </a:prstGeom>
          <a:noFill/>
          <a:ln w="0">
            <a:noFill/>
            <a:prstDash val="solid"/>
          </a:ln>
        </p:spPr>
        <p:txBody>
          <a:bodyPr anchor="t"/>
          <a:lstStyle/>
          <a:p>
            <a:pPr>
              <a:lnSpc>
                <a:spcPct val="90000"/>
              </a:lnSpc>
              <a:buNone/>
              <a:defRPr sz="6000" b="1">
                <a:solidFill>
                  <a:srgbClr val="111111"/>
                </a:solidFill>
                <a:latin typeface="Helvetica Neue"/>
                <a:ea typeface="Helvetica Neue"/>
                <a:cs typeface="Helvetica Neue"/>
              </a:defRPr>
            </a:pPr>
            <a:r>
              <a:rPr lang="en-US" sz="6000" b="1" dirty="0"/>
              <a:t>✨ Parse-y &amp; Pipelines ✨</a:t>
            </a:r>
            <a:br>
              <a:rPr lang="en-US" sz="6000" b="1" dirty="0"/>
            </a:br>
            <a:endParaRPr sz="6000" b="1" dirty="0">
              <a:solidFill>
                <a:srgbClr val="111111"/>
              </a:solidFill>
              <a:latin typeface="Helvetica Neue"/>
              <a:ea typeface="Helvetica Neue"/>
              <a:cs typeface="Helvetica Neue"/>
            </a:endParaRPr>
          </a:p>
        </p:txBody>
      </p:sp>
      <p:sp>
        <p:nvSpPr>
          <p:cNvPr id="3" name="cover-subtitle">
            <a:extLst>
              <a:ext uri="{FF2B5EF4-FFF2-40B4-BE49-F238E27FC236}">
                <a16:creationId xmlns:a16="http://schemas.microsoft.com/office/drawing/2014/main" id="{9FAD73BF-3145-506B-19D4-780C94D7DE12}"/>
              </a:ext>
            </a:extLst>
          </p:cNvPr>
          <p:cNvSpPr>
            <a:spLocks noGrp="1"/>
          </p:cNvSpPr>
          <p:nvPr/>
        </p:nvSpPr>
        <p:spPr>
          <a:xfrm>
            <a:off x="400050" y="3701375"/>
            <a:ext cx="7810500" cy="876300"/>
          </a:xfrm>
          <a:prstGeom prst="rect">
            <a:avLst/>
          </a:prstGeom>
          <a:noFill/>
          <a:ln w="0">
            <a:noFill/>
            <a:prstDash val="solid"/>
          </a:ln>
        </p:spPr>
        <p:txBody>
          <a:bodyPr anchor="t"/>
          <a:lstStyle/>
          <a:p>
            <a:pPr>
              <a:defRPr sz="2250">
                <a:solidFill>
                  <a:srgbClr val="565C65"/>
                </a:solidFill>
                <a:latin typeface="Helvetica Neue"/>
                <a:ea typeface="Helvetica Neue"/>
                <a:cs typeface="Helvetica Neue"/>
              </a:defRPr>
            </a:pPr>
            <a:r>
              <a:rPr lang="en-US" sz="2400" i="1" dirty="0"/>
              <a:t>Serving structured data, one .catalog file at a time.</a:t>
            </a:r>
            <a:endParaRPr sz="2250" dirty="0">
              <a:solidFill>
                <a:srgbClr val="565C65"/>
              </a:solidFill>
              <a:latin typeface="Helvetica Neue"/>
              <a:ea typeface="Helvetica Neue"/>
              <a:cs typeface="Helvetica Neue"/>
            </a:endParaRPr>
          </a:p>
        </p:txBody>
      </p:sp>
      <p:sp>
        <p:nvSpPr>
          <p:cNvPr id="4" name="cover-accent">
            <a:extLst>
              <a:ext uri="{FF2B5EF4-FFF2-40B4-BE49-F238E27FC236}">
                <a16:creationId xmlns:a16="http://schemas.microsoft.com/office/drawing/2014/main" id="{9A1099A2-39C0-48BF-7409-56CA3061A2EA}"/>
              </a:ext>
            </a:extLst>
          </p:cNvPr>
          <p:cNvSpPr>
            <a:spLocks noGrp="1"/>
          </p:cNvSpPr>
          <p:nvPr/>
        </p:nvSpPr>
        <p:spPr>
          <a:xfrm>
            <a:off x="10668000" y="0"/>
            <a:ext cx="1524000" cy="6858000"/>
          </a:xfrm>
          <a:prstGeom prst="rect">
            <a:avLst/>
          </a:prstGeom>
          <a:solidFill>
            <a:srgbClr val="D0EDFA"/>
          </a:solidFill>
          <a:ln w="0">
            <a:noFill/>
            <a:prstDash val="solid"/>
          </a:ln>
        </p:spPr>
        <p:txBody>
          <a:bodyPr/>
          <a:lstStyle/>
          <a:p>
            <a:endParaRPr lang="en-US"/>
          </a:p>
        </p:txBody>
      </p:sp>
      <p:sp>
        <p:nvSpPr>
          <p:cNvPr id="5" name="cover-accent-strong">
            <a:extLst>
              <a:ext uri="{FF2B5EF4-FFF2-40B4-BE49-F238E27FC236}">
                <a16:creationId xmlns:a16="http://schemas.microsoft.com/office/drawing/2014/main" id="{F3D15F05-91A3-82DC-BC2A-E7B4B5DB0964}"/>
              </a:ext>
            </a:extLst>
          </p:cNvPr>
          <p:cNvSpPr>
            <a:spLocks noGrp="1"/>
          </p:cNvSpPr>
          <p:nvPr/>
        </p:nvSpPr>
        <p:spPr>
          <a:xfrm>
            <a:off x="11315700" y="0"/>
            <a:ext cx="876300" cy="6858000"/>
          </a:xfrm>
          <a:prstGeom prst="rect">
            <a:avLst/>
          </a:prstGeom>
          <a:solidFill>
            <a:srgbClr val="3D8DFF"/>
          </a:solidFill>
          <a:ln w="0">
            <a:noFill/>
            <a:prstDash val="solid"/>
          </a:ln>
        </p:spPr>
        <p:txBody>
          <a:bodyPr/>
          <a:lstStyle/>
          <a:p>
            <a:endParaRPr lang="en-US"/>
          </a:p>
        </p:txBody>
      </p:sp>
      <p:pic>
        <p:nvPicPr>
          <p:cNvPr id="9" name="Picture 8">
            <a:extLst>
              <a:ext uri="{FF2B5EF4-FFF2-40B4-BE49-F238E27FC236}">
                <a16:creationId xmlns:a16="http://schemas.microsoft.com/office/drawing/2014/main" id="{763562E7-C2A9-217E-E0D5-1B4E71A53A37}"/>
              </a:ext>
              <a:ext uri="{C183D7F6-B498-43B3-948B-1728B52AA6E4}">
                <adec:decorative xmlns:adec="http://schemas.microsoft.com/office/drawing/2017/decorative" val="1"/>
              </a:ext>
            </a:extLst>
          </p:cNvPr>
          <p:cNvPicPr>
            <a:picLocks noChangeAspect="1"/>
          </p:cNvPicPr>
          <p:nvPr/>
        </p:nvPicPr>
        <p:blipFill>
          <a:blip r:embed="rId3"/>
          <a:srcRect l="5423" b="7181"/>
          <a:stretch>
            <a:fillRect/>
          </a:stretch>
        </p:blipFill>
        <p:spPr>
          <a:xfrm>
            <a:off x="7467834" y="4113119"/>
            <a:ext cx="3200166" cy="2513480"/>
          </a:xfrm>
          <a:prstGeom prst="rect">
            <a:avLst/>
          </a:prstGeom>
        </p:spPr>
      </p:pic>
    </p:spTree>
    <p:extLst>
      <p:ext uri="{BB962C8B-B14F-4D97-AF65-F5344CB8AC3E}">
        <p14:creationId xmlns:p14="http://schemas.microsoft.com/office/powerpoint/2010/main" val="3496895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5C9AF49-700A-AA12-B2C3-0D988CAB6F37}"/>
            </a:ext>
          </a:extLst>
        </p:cNvPr>
        <p:cNvGrpSpPr/>
        <p:nvPr/>
      </p:nvGrpSpPr>
      <p:grpSpPr>
        <a:xfrm>
          <a:off x="0" y="0"/>
          <a:ext cx="0" cy="0"/>
          <a:chOff x="0" y="0"/>
          <a:chExt cx="0" cy="0"/>
        </a:xfrm>
      </p:grpSpPr>
      <p:sp>
        <p:nvSpPr>
          <p:cNvPr id="8" name="slide-2-title">
            <a:extLst>
              <a:ext uri="{FF2B5EF4-FFF2-40B4-BE49-F238E27FC236}">
                <a16:creationId xmlns:a16="http://schemas.microsoft.com/office/drawing/2014/main" id="{65AC680D-9523-0985-D932-453C25409B96}"/>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What is ALMA Analytics?</a:t>
            </a:r>
          </a:p>
          <a:p>
            <a:pPr>
              <a:defRPr sz="3750" b="1">
                <a:solidFill>
                  <a:srgbClr val="111111"/>
                </a:solidFill>
                <a:latin typeface="Helvetica Neue"/>
                <a:ea typeface="Helvetica Neue"/>
                <a:cs typeface="Helvetica Neue"/>
              </a:defRPr>
            </a:pPr>
            <a:endParaRPr lang="en-US" sz="3750" b="1" dirty="0">
              <a:solidFill>
                <a:srgbClr val="111111"/>
              </a:solidFill>
              <a:latin typeface="Helvetica Neue"/>
              <a:ea typeface="Helvetica Neue"/>
              <a:cs typeface="Helvetica Neue"/>
            </a:endParaRPr>
          </a:p>
        </p:txBody>
      </p:sp>
      <p:sp>
        <p:nvSpPr>
          <p:cNvPr id="2" name="slide-2-number">
            <a:extLst>
              <a:ext uri="{FF2B5EF4-FFF2-40B4-BE49-F238E27FC236}">
                <a16:creationId xmlns:a16="http://schemas.microsoft.com/office/drawing/2014/main" id="{1623B6BB-2F0B-A748-3A95-903117FA637E}"/>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02</a:t>
            </a:r>
          </a:p>
        </p:txBody>
      </p:sp>
      <p:sp>
        <p:nvSpPr>
          <p:cNvPr id="3" name="problem-lead">
            <a:extLst>
              <a:ext uri="{FF2B5EF4-FFF2-40B4-BE49-F238E27FC236}">
                <a16:creationId xmlns:a16="http://schemas.microsoft.com/office/drawing/2014/main" id="{97CD348B-B0A0-8ABC-A127-A34BA2CE7C76}"/>
              </a:ext>
            </a:extLst>
          </p:cNvPr>
          <p:cNvSpPr>
            <a:spLocks noGrp="1"/>
          </p:cNvSpPr>
          <p:nvPr/>
        </p:nvSpPr>
        <p:spPr>
          <a:xfrm>
            <a:off x="400050" y="1550765"/>
            <a:ext cx="4953000" cy="914400"/>
          </a:xfrm>
          <a:prstGeom prst="rect">
            <a:avLst/>
          </a:prstGeom>
          <a:noFill/>
          <a:ln w="0">
            <a:noFill/>
            <a:prstDash val="solid"/>
          </a:ln>
        </p:spPr>
        <p:txBody>
          <a:bodyPr anchor="t"/>
          <a:lstStyle/>
          <a:p>
            <a:pPr>
              <a:defRPr sz="2250" b="1">
                <a:solidFill>
                  <a:srgbClr val="111111"/>
                </a:solidFill>
                <a:latin typeface="Helvetica Neue"/>
                <a:ea typeface="Helvetica Neue"/>
                <a:cs typeface="Helvetica Neue"/>
              </a:defRPr>
            </a:pPr>
            <a:r>
              <a:rPr lang="en-US" sz="2250" b="1" dirty="0">
                <a:solidFill>
                  <a:srgbClr val="111111"/>
                </a:solidFill>
                <a:latin typeface="Helvetica Neue"/>
                <a:ea typeface="Helvetica Neue"/>
                <a:cs typeface="Helvetica Neue"/>
              </a:rPr>
              <a:t>Ex Libris Alma Analytics is the reporting and data-analysis component of Alma, Ex </a:t>
            </a:r>
            <a:r>
              <a:rPr lang="en-US" sz="2250" b="1" dirty="0" err="1">
                <a:solidFill>
                  <a:srgbClr val="111111"/>
                </a:solidFill>
                <a:latin typeface="Helvetica Neue"/>
                <a:ea typeface="Helvetica Neue"/>
                <a:cs typeface="Helvetica Neue"/>
              </a:rPr>
              <a:t>Libris’s</a:t>
            </a:r>
            <a:r>
              <a:rPr lang="en-US" sz="2250" b="1" dirty="0">
                <a:solidFill>
                  <a:srgbClr val="111111"/>
                </a:solidFill>
                <a:latin typeface="Helvetica Neue"/>
                <a:ea typeface="Helvetica Neue"/>
                <a:cs typeface="Helvetica Neue"/>
              </a:rPr>
              <a:t> cloud-based library services platform.</a:t>
            </a:r>
          </a:p>
          <a:p>
            <a:pPr>
              <a:defRPr sz="2250" b="1">
                <a:solidFill>
                  <a:srgbClr val="111111"/>
                </a:solidFill>
                <a:latin typeface="Helvetica Neue"/>
                <a:ea typeface="Helvetica Neue"/>
                <a:cs typeface="Helvetica Neue"/>
              </a:defRPr>
            </a:pPr>
            <a:endParaRPr lang="en-US" sz="2250" b="1" dirty="0">
              <a:solidFill>
                <a:srgbClr val="111111"/>
              </a:solidFill>
              <a:latin typeface="Helvetica Neue"/>
              <a:ea typeface="Helvetica Neue"/>
              <a:cs typeface="Helvetica Neue"/>
            </a:endParaRPr>
          </a:p>
        </p:txBody>
      </p:sp>
      <p:sp>
        <p:nvSpPr>
          <p:cNvPr id="4" name="problem-body">
            <a:extLst>
              <a:ext uri="{FF2B5EF4-FFF2-40B4-BE49-F238E27FC236}">
                <a16:creationId xmlns:a16="http://schemas.microsoft.com/office/drawing/2014/main" id="{4F386E32-15AD-6BA0-B92F-5E70123B6159}"/>
              </a:ext>
            </a:extLst>
          </p:cNvPr>
          <p:cNvSpPr>
            <a:spLocks noGrp="1"/>
          </p:cNvSpPr>
          <p:nvPr/>
        </p:nvSpPr>
        <p:spPr>
          <a:xfrm>
            <a:off x="400050" y="3276600"/>
            <a:ext cx="4953000" cy="1809750"/>
          </a:xfrm>
          <a:prstGeom prst="rect">
            <a:avLst/>
          </a:prstGeom>
          <a:noFill/>
          <a:ln w="0">
            <a:noFill/>
            <a:prstDash val="solid"/>
          </a:ln>
        </p:spPr>
        <p:txBody>
          <a:bodyPr anchor="t"/>
          <a:lstStyle/>
          <a:p>
            <a:r>
              <a:rPr lang="en-US" dirty="0"/>
              <a:t>UC Libraries use Alma Analytics to query and analyze data from Alma related to areas such as acquisitions, cataloging, circulation, electronic resources, and users. </a:t>
            </a:r>
          </a:p>
          <a:p>
            <a:endParaRPr lang="en-US" dirty="0"/>
          </a:p>
          <a:p>
            <a:r>
              <a:rPr lang="en-US" dirty="0"/>
              <a:t>Alma Analytics allows UC Libraries to turn this data into reports, tables, charts, and dashboards to support reporting, assessment, and decision-making.</a:t>
            </a:r>
          </a:p>
        </p:txBody>
      </p:sp>
      <p:pic>
        <p:nvPicPr>
          <p:cNvPr id="13" name="Picture 12" descr="Alma Analytics: Become an Expert - Ex Libris Knowledge Center">
            <a:extLst>
              <a:ext uri="{FF2B5EF4-FFF2-40B4-BE49-F238E27FC236}">
                <a16:creationId xmlns:a16="http://schemas.microsoft.com/office/drawing/2014/main" id="{F7FC9A94-1CE2-72AB-D38E-FD72A0E7C9E7}"/>
              </a:ext>
            </a:extLst>
          </p:cNvPr>
          <p:cNvPicPr>
            <a:picLocks noChangeAspect="1"/>
          </p:cNvPicPr>
          <p:nvPr/>
        </p:nvPicPr>
        <p:blipFill>
          <a:blip r:embed="rId3"/>
          <a:stretch>
            <a:fillRect/>
          </a:stretch>
        </p:blipFill>
        <p:spPr>
          <a:xfrm>
            <a:off x="8536831" y="3276600"/>
            <a:ext cx="3655169" cy="2964748"/>
          </a:xfrm>
          <a:prstGeom prst="rect">
            <a:avLst/>
          </a:prstGeom>
        </p:spPr>
      </p:pic>
      <p:pic>
        <p:nvPicPr>
          <p:cNvPr id="14" name="Picture 13" descr="Charles University is First Czech Institution to Adopt Ex Libris Alma  Library Services and Primo Discovery">
            <a:extLst>
              <a:ext uri="{FF2B5EF4-FFF2-40B4-BE49-F238E27FC236}">
                <a16:creationId xmlns:a16="http://schemas.microsoft.com/office/drawing/2014/main" id="{FC2F2E98-ADF7-6CCA-E8D7-6AB952872055}"/>
              </a:ext>
            </a:extLst>
          </p:cNvPr>
          <p:cNvPicPr>
            <a:picLocks noChangeAspect="1"/>
          </p:cNvPicPr>
          <p:nvPr/>
        </p:nvPicPr>
        <p:blipFill>
          <a:blip r:embed="rId4"/>
          <a:srcRect l="23185" t="12048" r="20244" b="12111"/>
          <a:stretch>
            <a:fillRect/>
          </a:stretch>
        </p:blipFill>
        <p:spPr>
          <a:xfrm>
            <a:off x="5571821" y="872250"/>
            <a:ext cx="4134053" cy="2938578"/>
          </a:xfrm>
          <a:prstGeom prst="rect">
            <a:avLst/>
          </a:prstGeom>
        </p:spPr>
      </p:pic>
      <p:sp>
        <p:nvSpPr>
          <p:cNvPr id="15" name="TextBox 14">
            <a:extLst>
              <a:ext uri="{FF2B5EF4-FFF2-40B4-BE49-F238E27FC236}">
                <a16:creationId xmlns:a16="http://schemas.microsoft.com/office/drawing/2014/main" id="{862274F4-0EA2-3BB8-8DFB-316E36AED70C}"/>
              </a:ext>
            </a:extLst>
          </p:cNvPr>
          <p:cNvSpPr txBox="1"/>
          <p:nvPr/>
        </p:nvSpPr>
        <p:spPr>
          <a:xfrm>
            <a:off x="5789578" y="6185348"/>
            <a:ext cx="6099242" cy="646331"/>
          </a:xfrm>
          <a:prstGeom prst="rect">
            <a:avLst/>
          </a:prstGeom>
          <a:noFill/>
        </p:spPr>
        <p:txBody>
          <a:bodyPr wrap="square">
            <a:spAutoFit/>
          </a:bodyPr>
          <a:lstStyle/>
          <a:p>
            <a:r>
              <a:rPr lang="en-US" dirty="0"/>
              <a:t>https://</a:t>
            </a:r>
            <a:r>
              <a:rPr lang="en-US" dirty="0" err="1"/>
              <a:t>knowledge.exlibrisgroup.com</a:t>
            </a:r>
            <a:r>
              <a:rPr lang="en-US" dirty="0"/>
              <a:t>/Alma/</a:t>
            </a:r>
            <a:r>
              <a:rPr lang="en-US" dirty="0" err="1"/>
              <a:t>Product_Documentation</a:t>
            </a:r>
            <a:r>
              <a:rPr lang="en-US" dirty="0"/>
              <a:t>/010Alma_Online_Help_(English)/080Analytics</a:t>
            </a:r>
          </a:p>
        </p:txBody>
      </p:sp>
    </p:spTree>
    <p:extLst>
      <p:ext uri="{BB962C8B-B14F-4D97-AF65-F5344CB8AC3E}">
        <p14:creationId xmlns:p14="http://schemas.microsoft.com/office/powerpoint/2010/main" val="1538575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2-title">
            <a:extLst>
              <a:ext uri="{FF2B5EF4-FFF2-40B4-BE49-F238E27FC236}">
                <a16:creationId xmlns:a16="http://schemas.microsoft.com/office/drawing/2014/main" id="{6BCD719B-8ED2-40CF-848E-27760280ED66}"/>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What is a .catalog file in ALMA Analytics?</a:t>
            </a:r>
          </a:p>
          <a:p>
            <a:pPr>
              <a:defRPr sz="3750" b="1">
                <a:solidFill>
                  <a:srgbClr val="111111"/>
                </a:solidFill>
                <a:latin typeface="Helvetica Neue"/>
                <a:ea typeface="Helvetica Neue"/>
                <a:cs typeface="Helvetica Neue"/>
              </a:defRPr>
            </a:pPr>
            <a:endParaRPr lang="en-US" sz="3750" b="1" dirty="0">
              <a:solidFill>
                <a:srgbClr val="111111"/>
              </a:solidFill>
              <a:latin typeface="Helvetica Neue"/>
              <a:ea typeface="Helvetica Neue"/>
              <a:cs typeface="Helvetica Neue"/>
            </a:endParaRPr>
          </a:p>
        </p:txBody>
      </p:sp>
      <p:sp>
        <p:nvSpPr>
          <p:cNvPr id="2" name="slide-2-number">
            <a:extLst>
              <a:ext uri="{FF2B5EF4-FFF2-40B4-BE49-F238E27FC236}">
                <a16:creationId xmlns:a16="http://schemas.microsoft.com/office/drawing/2014/main" id="{FDA34AE7-259C-44D6-8D07-2DE9FB5DADB1}"/>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02</a:t>
            </a:r>
          </a:p>
        </p:txBody>
      </p:sp>
      <p:sp>
        <p:nvSpPr>
          <p:cNvPr id="3" name="problem-lead">
            <a:extLst>
              <a:ext uri="{FF2B5EF4-FFF2-40B4-BE49-F238E27FC236}">
                <a16:creationId xmlns:a16="http://schemas.microsoft.com/office/drawing/2014/main" id="{0301D71E-F7DB-4CEC-8919-602885FCC29A}"/>
              </a:ext>
            </a:extLst>
          </p:cNvPr>
          <p:cNvSpPr>
            <a:spLocks noGrp="1"/>
          </p:cNvSpPr>
          <p:nvPr/>
        </p:nvSpPr>
        <p:spPr>
          <a:xfrm>
            <a:off x="400050" y="1714500"/>
            <a:ext cx="4953000" cy="914400"/>
          </a:xfrm>
          <a:prstGeom prst="rect">
            <a:avLst/>
          </a:prstGeom>
          <a:noFill/>
          <a:ln w="0">
            <a:noFill/>
            <a:prstDash val="solid"/>
          </a:ln>
        </p:spPr>
        <p:txBody>
          <a:bodyPr anchor="t"/>
          <a:lstStyle/>
          <a:p>
            <a:pPr>
              <a:defRPr sz="2250" b="1">
                <a:solidFill>
                  <a:srgbClr val="111111"/>
                </a:solidFill>
                <a:latin typeface="Helvetica Neue"/>
                <a:ea typeface="Helvetica Neue"/>
                <a:cs typeface="Helvetica Neue"/>
              </a:defRPr>
            </a:pPr>
            <a:r>
              <a:rPr lang="en-US" sz="2250" b="1" dirty="0">
                <a:solidFill>
                  <a:srgbClr val="111111"/>
                </a:solidFill>
                <a:latin typeface="Helvetica Neue"/>
                <a:ea typeface="Helvetica Neue"/>
                <a:cs typeface="Helvetica Neue"/>
              </a:rPr>
              <a:t>Alma Analytics .catalog file contains XML-based catalog objects, and is not readable as plain-text XML. </a:t>
            </a:r>
          </a:p>
        </p:txBody>
      </p:sp>
      <p:sp>
        <p:nvSpPr>
          <p:cNvPr id="4" name="problem-body">
            <a:extLst>
              <a:ext uri="{FF2B5EF4-FFF2-40B4-BE49-F238E27FC236}">
                <a16:creationId xmlns:a16="http://schemas.microsoft.com/office/drawing/2014/main" id="{92415213-AA7E-4ABC-B1CB-453D801D669D}"/>
              </a:ext>
            </a:extLst>
          </p:cNvPr>
          <p:cNvSpPr>
            <a:spLocks noGrp="1"/>
          </p:cNvSpPr>
          <p:nvPr/>
        </p:nvSpPr>
        <p:spPr>
          <a:xfrm>
            <a:off x="381000" y="3276600"/>
            <a:ext cx="4953000" cy="1809750"/>
          </a:xfrm>
          <a:prstGeom prst="rect">
            <a:avLst/>
          </a:prstGeom>
          <a:noFill/>
          <a:ln w="0">
            <a:noFill/>
            <a:prstDash val="solid"/>
          </a:ln>
        </p:spPr>
        <p:txBody>
          <a:bodyPr anchor="t"/>
          <a:lstStyle/>
          <a:p>
            <a:pPr>
              <a:defRPr sz="1800">
                <a:solidFill>
                  <a:srgbClr val="565C65"/>
                </a:solidFill>
                <a:latin typeface="Helvetica Neue"/>
                <a:ea typeface="Helvetica Neue"/>
                <a:cs typeface="Helvetica Neue"/>
              </a:defRPr>
            </a:pPr>
            <a:r>
              <a:rPr lang="en-US" sz="1800" dirty="0">
                <a:solidFill>
                  <a:srgbClr val="565C65"/>
                </a:solidFill>
                <a:latin typeface="Helvetica Neue"/>
                <a:ea typeface="Helvetica Neue"/>
                <a:cs typeface="Helvetica Neue"/>
              </a:rPr>
              <a:t>Opening it directly in a text editor displays binary content rather than usable report definitions.</a:t>
            </a:r>
          </a:p>
          <a:p>
            <a:pPr>
              <a:defRPr sz="1800">
                <a:solidFill>
                  <a:srgbClr val="565C65"/>
                </a:solidFill>
                <a:latin typeface="Helvetica Neue"/>
                <a:ea typeface="Helvetica Neue"/>
                <a:cs typeface="Helvetica Neue"/>
              </a:defRPr>
            </a:pPr>
            <a:endParaRPr lang="en-US" sz="1800" dirty="0">
              <a:solidFill>
                <a:srgbClr val="565C65"/>
              </a:solidFill>
              <a:latin typeface="Helvetica Neue"/>
              <a:ea typeface="Helvetica Neue"/>
              <a:cs typeface="Helvetica Neue"/>
            </a:endParaRPr>
          </a:p>
          <a:p>
            <a:pPr>
              <a:defRPr sz="1800">
                <a:solidFill>
                  <a:srgbClr val="565C65"/>
                </a:solidFill>
                <a:latin typeface="Helvetica Neue"/>
                <a:ea typeface="Helvetica Neue"/>
                <a:cs typeface="Helvetica Neue"/>
              </a:defRPr>
            </a:pPr>
            <a:r>
              <a:rPr lang="en-US" sz="1800" dirty="0">
                <a:solidFill>
                  <a:srgbClr val="565C65"/>
                </a:solidFill>
                <a:latin typeface="Helvetica Neue"/>
                <a:ea typeface="Helvetica Neue"/>
                <a:cs typeface="Helvetica Neue"/>
              </a:rPr>
              <a:t>The parser decompresses the archive, finds the embedded XML objects, aligns them with their catalog metadata, and converts their definitions into reviewable datasets. The appearance shown above is expected and does not mean that the .catalog file is corrupted.</a:t>
            </a:r>
          </a:p>
          <a:p>
            <a:pPr>
              <a:defRPr sz="1800">
                <a:solidFill>
                  <a:srgbClr val="565C65"/>
                </a:solidFill>
                <a:latin typeface="Helvetica Neue"/>
                <a:ea typeface="Helvetica Neue"/>
                <a:cs typeface="Helvetica Neue"/>
              </a:defRPr>
            </a:pPr>
            <a:endParaRPr lang="en-US" sz="1800" dirty="0">
              <a:solidFill>
                <a:srgbClr val="565C65"/>
              </a:solidFill>
              <a:latin typeface="Helvetica Neue"/>
              <a:ea typeface="Helvetica Neue"/>
              <a:cs typeface="Helvetica Neue"/>
            </a:endParaRPr>
          </a:p>
        </p:txBody>
      </p:sp>
      <p:sp>
        <p:nvSpPr>
          <p:cNvPr id="6" name="tree-backing">
            <a:extLst>
              <a:ext uri="{FF2B5EF4-FFF2-40B4-BE49-F238E27FC236}">
                <a16:creationId xmlns:a16="http://schemas.microsoft.com/office/drawing/2014/main" id="{7B0F0F29-9D58-4B5C-958A-4FC0CD4F7191}"/>
              </a:ext>
            </a:extLst>
          </p:cNvPr>
          <p:cNvSpPr>
            <a:spLocks noGrp="1"/>
          </p:cNvSpPr>
          <p:nvPr/>
        </p:nvSpPr>
        <p:spPr>
          <a:xfrm>
            <a:off x="6191250" y="1352550"/>
            <a:ext cx="5619750" cy="4667250"/>
          </a:xfrm>
          <a:prstGeom prst="rect">
            <a:avLst/>
          </a:prstGeom>
          <a:solidFill>
            <a:srgbClr val="F7F7F7"/>
          </a:solidFill>
          <a:ln w="9525">
            <a:solidFill>
              <a:srgbClr val="B8BCC4"/>
            </a:solidFill>
            <a:prstDash val="solid"/>
          </a:ln>
        </p:spPr>
        <p:txBody>
          <a:bodyPr/>
          <a:lstStyle/>
          <a:p>
            <a:endParaRPr lang="en-US"/>
          </a:p>
        </p:txBody>
      </p:sp>
      <p:pic>
        <p:nvPicPr>
          <p:cNvPr id="9" name="Picture 8">
            <a:extLst>
              <a:ext uri="{FF2B5EF4-FFF2-40B4-BE49-F238E27FC236}">
                <a16:creationId xmlns:a16="http://schemas.microsoft.com/office/drawing/2014/main" id="{CD1950CF-E522-878B-53CB-17C57D021697}"/>
              </a:ext>
            </a:extLst>
          </p:cNvPr>
          <p:cNvPicPr>
            <a:picLocks noChangeAspect="1"/>
          </p:cNvPicPr>
          <p:nvPr/>
        </p:nvPicPr>
        <p:blipFill>
          <a:blip r:embed="rId3"/>
          <a:stretch>
            <a:fillRect/>
          </a:stretch>
        </p:blipFill>
        <p:spPr>
          <a:xfrm>
            <a:off x="6496954" y="2193816"/>
            <a:ext cx="5018771" cy="2984718"/>
          </a:xfrm>
          <a:prstGeom prst="rect">
            <a:avLst/>
          </a:prstGeom>
        </p:spPr>
      </p:pic>
    </p:spTree>
    <p:extLst>
      <p:ext uri="{BB962C8B-B14F-4D97-AF65-F5344CB8AC3E}">
        <p14:creationId xmlns:p14="http://schemas.microsoft.com/office/powerpoint/2010/main" val="681495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5633C84-1287-2959-ECC3-66471E039F72}"/>
            </a:ext>
          </a:extLst>
        </p:cNvPr>
        <p:cNvGrpSpPr/>
        <p:nvPr/>
      </p:nvGrpSpPr>
      <p:grpSpPr>
        <a:xfrm>
          <a:off x="0" y="0"/>
          <a:ext cx="0" cy="0"/>
          <a:chOff x="0" y="0"/>
          <a:chExt cx="0" cy="0"/>
        </a:xfrm>
      </p:grpSpPr>
      <p:sp>
        <p:nvSpPr>
          <p:cNvPr id="8" name="slide-2-title">
            <a:extLst>
              <a:ext uri="{FF2B5EF4-FFF2-40B4-BE49-F238E27FC236}">
                <a16:creationId xmlns:a16="http://schemas.microsoft.com/office/drawing/2014/main" id="{D38957E6-33BD-55A0-6DEB-67C623D24F43}"/>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What is a .catalog file in ALMA Analytics?</a:t>
            </a:r>
          </a:p>
          <a:p>
            <a:pPr>
              <a:defRPr sz="3750" b="1">
                <a:solidFill>
                  <a:srgbClr val="111111"/>
                </a:solidFill>
                <a:latin typeface="Helvetica Neue"/>
                <a:ea typeface="Helvetica Neue"/>
                <a:cs typeface="Helvetica Neue"/>
              </a:defRPr>
            </a:pPr>
            <a:endParaRPr lang="en-US" sz="3750" b="1" dirty="0">
              <a:solidFill>
                <a:srgbClr val="111111"/>
              </a:solidFill>
              <a:latin typeface="Helvetica Neue"/>
              <a:ea typeface="Helvetica Neue"/>
              <a:cs typeface="Helvetica Neue"/>
            </a:endParaRPr>
          </a:p>
        </p:txBody>
      </p:sp>
      <p:sp>
        <p:nvSpPr>
          <p:cNvPr id="2" name="slide-2-number">
            <a:extLst>
              <a:ext uri="{FF2B5EF4-FFF2-40B4-BE49-F238E27FC236}">
                <a16:creationId xmlns:a16="http://schemas.microsoft.com/office/drawing/2014/main" id="{3E270F6C-89C5-C66E-3E24-151A57B6B4F2}"/>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02</a:t>
            </a:r>
          </a:p>
        </p:txBody>
      </p:sp>
      <p:sp>
        <p:nvSpPr>
          <p:cNvPr id="3" name="problem-lead">
            <a:extLst>
              <a:ext uri="{FF2B5EF4-FFF2-40B4-BE49-F238E27FC236}">
                <a16:creationId xmlns:a16="http://schemas.microsoft.com/office/drawing/2014/main" id="{2F2C4CED-0900-84B2-0454-927FFAA3F9F0}"/>
              </a:ext>
            </a:extLst>
          </p:cNvPr>
          <p:cNvSpPr>
            <a:spLocks noGrp="1"/>
          </p:cNvSpPr>
          <p:nvPr/>
        </p:nvSpPr>
        <p:spPr>
          <a:xfrm>
            <a:off x="400050" y="1714500"/>
            <a:ext cx="4953000" cy="914400"/>
          </a:xfrm>
          <a:prstGeom prst="rect">
            <a:avLst/>
          </a:prstGeom>
          <a:noFill/>
          <a:ln w="0">
            <a:noFill/>
            <a:prstDash val="solid"/>
          </a:ln>
        </p:spPr>
        <p:txBody>
          <a:bodyPr anchor="t"/>
          <a:lstStyle/>
          <a:p>
            <a:pPr>
              <a:defRPr sz="2250" b="1">
                <a:solidFill>
                  <a:srgbClr val="111111"/>
                </a:solidFill>
                <a:latin typeface="Helvetica Neue"/>
                <a:ea typeface="Helvetica Neue"/>
                <a:cs typeface="Helvetica Neue"/>
              </a:defRPr>
            </a:pPr>
            <a:r>
              <a:rPr lang="en-US" sz="2250" b="1" dirty="0">
                <a:solidFill>
                  <a:srgbClr val="111111"/>
                </a:solidFill>
                <a:latin typeface="Helvetica Neue"/>
                <a:ea typeface="Helvetica Neue"/>
                <a:cs typeface="Helvetica Neue"/>
              </a:rPr>
              <a:t>However, another way of looking at it is that it is a box within a box within a box. </a:t>
            </a:r>
          </a:p>
        </p:txBody>
      </p:sp>
      <p:sp>
        <p:nvSpPr>
          <p:cNvPr id="4" name="problem-body">
            <a:extLst>
              <a:ext uri="{FF2B5EF4-FFF2-40B4-BE49-F238E27FC236}">
                <a16:creationId xmlns:a16="http://schemas.microsoft.com/office/drawing/2014/main" id="{951C2F34-123B-C079-1195-F1772918EC60}"/>
              </a:ext>
            </a:extLst>
          </p:cNvPr>
          <p:cNvSpPr>
            <a:spLocks noGrp="1"/>
          </p:cNvSpPr>
          <p:nvPr/>
        </p:nvSpPr>
        <p:spPr>
          <a:xfrm>
            <a:off x="381000" y="3084096"/>
            <a:ext cx="4953000" cy="2920281"/>
          </a:xfrm>
          <a:prstGeom prst="rect">
            <a:avLst/>
          </a:prstGeom>
          <a:noFill/>
          <a:ln w="0">
            <a:noFill/>
            <a:prstDash val="solid"/>
          </a:ln>
        </p:spPr>
        <p:txBody>
          <a:bodyPr anchor="t"/>
          <a:lstStyle/>
          <a:p>
            <a:pPr marL="285750" lvl="0" indent="-285750">
              <a:buFont typeface="Arial" panose="020B0604020202020204" pitchFamily="34" charset="0"/>
              <a:buChar char="•"/>
            </a:pPr>
            <a:r>
              <a:rPr lang="en-US" b="1" dirty="0"/>
              <a:t>.catalog</a:t>
            </a:r>
            <a:r>
              <a:rPr lang="en-US" dirty="0"/>
              <a:t> file— the outermost box that contains the catalog’s overall relational structure.</a:t>
            </a:r>
          </a:p>
          <a:p>
            <a:pPr marL="285750" lvl="0" indent="-285750">
              <a:buFont typeface="Arial" panose="020B0604020202020204" pitchFamily="34" charset="0"/>
              <a:buChar char="•"/>
            </a:pPr>
            <a:r>
              <a:rPr lang="en-US" b="1" dirty="0"/>
              <a:t>Analysis / Report</a:t>
            </a:r>
            <a:r>
              <a:rPr lang="en-US" dirty="0"/>
              <a:t> — the outer box that organizes the information being analyzed or reported.</a:t>
            </a:r>
          </a:p>
          <a:p>
            <a:pPr marL="285750" lvl="0" indent="-285750">
              <a:buFont typeface="Arial" panose="020B0604020202020204" pitchFamily="34" charset="0"/>
              <a:buChar char="•"/>
            </a:pPr>
            <a:r>
              <a:rPr lang="en-US" b="1" dirty="0"/>
              <a:t>Object</a:t>
            </a:r>
            <a:r>
              <a:rPr lang="en-US" dirty="0"/>
              <a:t> — the box within the analysis/report that represents the subject being analyzed.</a:t>
            </a:r>
          </a:p>
          <a:p>
            <a:pPr marL="285750" lvl="0" indent="-285750">
              <a:buFont typeface="Arial" panose="020B0604020202020204" pitchFamily="34" charset="0"/>
              <a:buChar char="•"/>
            </a:pPr>
            <a:r>
              <a:rPr lang="en-US" b="1" dirty="0"/>
              <a:t>Criteria</a:t>
            </a:r>
            <a:r>
              <a:rPr lang="en-US" dirty="0"/>
              <a:t> — the box within the object that specifies which records or data are included, as described in Alma Analytics.</a:t>
            </a:r>
          </a:p>
          <a:p>
            <a:pPr marL="285750" lvl="0" indent="-285750">
              <a:buFont typeface="Arial" panose="020B0604020202020204" pitchFamily="34" charset="0"/>
              <a:buChar char="•"/>
            </a:pPr>
            <a:endParaRPr lang="en-US" dirty="0"/>
          </a:p>
        </p:txBody>
      </p:sp>
      <p:sp>
        <p:nvSpPr>
          <p:cNvPr id="6" name="tree-backing">
            <a:extLst>
              <a:ext uri="{FF2B5EF4-FFF2-40B4-BE49-F238E27FC236}">
                <a16:creationId xmlns:a16="http://schemas.microsoft.com/office/drawing/2014/main" id="{402A8A2C-B753-98B2-A8DE-735842A4CECC}"/>
              </a:ext>
            </a:extLst>
          </p:cNvPr>
          <p:cNvSpPr>
            <a:spLocks noGrp="1"/>
          </p:cNvSpPr>
          <p:nvPr/>
        </p:nvSpPr>
        <p:spPr>
          <a:xfrm>
            <a:off x="6191250" y="1352550"/>
            <a:ext cx="5619750" cy="4667250"/>
          </a:xfrm>
          <a:prstGeom prst="rect">
            <a:avLst/>
          </a:prstGeom>
          <a:solidFill>
            <a:srgbClr val="F7F7F7"/>
          </a:solidFill>
          <a:ln w="9525">
            <a:solidFill>
              <a:srgbClr val="B8BCC4"/>
            </a:solidFill>
            <a:prstDash val="solid"/>
          </a:ln>
        </p:spPr>
        <p:txBody>
          <a:bodyPr/>
          <a:lstStyle/>
          <a:p>
            <a:endParaRPr lang="en-US"/>
          </a:p>
        </p:txBody>
      </p:sp>
      <p:pic>
        <p:nvPicPr>
          <p:cNvPr id="5" name="Picture 4" descr="Give the Gift of Frustration: Boxes in a Box Prank. Includes 3 Sets of 6  Nesting Cartons (2-12 Inch). Funny Practical or Novelty Joke. Great  Christmas ...">
            <a:extLst>
              <a:ext uri="{FF2B5EF4-FFF2-40B4-BE49-F238E27FC236}">
                <a16:creationId xmlns:a16="http://schemas.microsoft.com/office/drawing/2014/main" id="{8A4AF24E-78E5-D90A-0253-CBDD46BF4A32}"/>
              </a:ext>
            </a:extLst>
          </p:cNvPr>
          <p:cNvPicPr>
            <a:picLocks noChangeAspect="1"/>
          </p:cNvPicPr>
          <p:nvPr/>
        </p:nvPicPr>
        <p:blipFill>
          <a:blip r:embed="rId3"/>
          <a:stretch>
            <a:fillRect/>
          </a:stretch>
        </p:blipFill>
        <p:spPr>
          <a:xfrm>
            <a:off x="6912909" y="1532404"/>
            <a:ext cx="4307541" cy="4307541"/>
          </a:xfrm>
          <a:prstGeom prst="rect">
            <a:avLst/>
          </a:prstGeom>
        </p:spPr>
      </p:pic>
    </p:spTree>
    <p:extLst>
      <p:ext uri="{BB962C8B-B14F-4D97-AF65-F5344CB8AC3E}">
        <p14:creationId xmlns:p14="http://schemas.microsoft.com/office/powerpoint/2010/main" val="3465582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CE2990B-C3FB-58C5-6DE7-19D9314D2C3E}"/>
            </a:ext>
          </a:extLst>
        </p:cNvPr>
        <p:cNvGrpSpPr/>
        <p:nvPr/>
      </p:nvGrpSpPr>
      <p:grpSpPr>
        <a:xfrm>
          <a:off x="0" y="0"/>
          <a:ext cx="0" cy="0"/>
          <a:chOff x="0" y="0"/>
          <a:chExt cx="0" cy="0"/>
        </a:xfrm>
      </p:grpSpPr>
      <p:sp>
        <p:nvSpPr>
          <p:cNvPr id="8" name="slide-2-title">
            <a:extLst>
              <a:ext uri="{FF2B5EF4-FFF2-40B4-BE49-F238E27FC236}">
                <a16:creationId xmlns:a16="http://schemas.microsoft.com/office/drawing/2014/main" id="{91EBB846-F54B-1911-8B2E-F949AA69C4F5}"/>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Making Hidden .catalog Relationships Visible</a:t>
            </a:r>
          </a:p>
        </p:txBody>
      </p:sp>
      <p:sp>
        <p:nvSpPr>
          <p:cNvPr id="2" name="slide-2-number">
            <a:extLst>
              <a:ext uri="{FF2B5EF4-FFF2-40B4-BE49-F238E27FC236}">
                <a16:creationId xmlns:a16="http://schemas.microsoft.com/office/drawing/2014/main" id="{91CB61EB-D719-C91E-02F7-AE09922673C1}"/>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02</a:t>
            </a:r>
          </a:p>
        </p:txBody>
      </p:sp>
      <p:sp>
        <p:nvSpPr>
          <p:cNvPr id="3" name="problem-lead">
            <a:extLst>
              <a:ext uri="{FF2B5EF4-FFF2-40B4-BE49-F238E27FC236}">
                <a16:creationId xmlns:a16="http://schemas.microsoft.com/office/drawing/2014/main" id="{99FE11E8-BDAE-E8F2-EEB6-29FFCD9D4C49}"/>
              </a:ext>
            </a:extLst>
          </p:cNvPr>
          <p:cNvSpPr>
            <a:spLocks noGrp="1"/>
          </p:cNvSpPr>
          <p:nvPr/>
        </p:nvSpPr>
        <p:spPr>
          <a:xfrm>
            <a:off x="400050" y="1714500"/>
            <a:ext cx="4953000" cy="914400"/>
          </a:xfrm>
          <a:prstGeom prst="rect">
            <a:avLst/>
          </a:prstGeom>
          <a:noFill/>
          <a:ln w="0">
            <a:noFill/>
            <a:prstDash val="solid"/>
          </a:ln>
        </p:spPr>
        <p:txBody>
          <a:bodyPr anchor="t"/>
          <a:lstStyle/>
          <a:p>
            <a:pPr>
              <a:defRPr sz="2250" b="1">
                <a:solidFill>
                  <a:srgbClr val="111111"/>
                </a:solidFill>
                <a:latin typeface="Helvetica Neue"/>
                <a:ea typeface="Helvetica Neue"/>
                <a:cs typeface="Helvetica Neue"/>
              </a:defRPr>
            </a:pPr>
            <a:r>
              <a:rPr sz="2250" b="1" dirty="0">
                <a:solidFill>
                  <a:srgbClr val="111111"/>
                </a:solidFill>
                <a:latin typeface="Helvetica Neue"/>
                <a:ea typeface="Helvetica Neue"/>
                <a:cs typeface="Helvetica Neue"/>
              </a:rPr>
              <a:t>Alma </a:t>
            </a:r>
            <a:r>
              <a:rPr lang="en-US" sz="2250" b="1" dirty="0">
                <a:solidFill>
                  <a:srgbClr val="111111"/>
                </a:solidFill>
                <a:latin typeface="Helvetica Neue"/>
                <a:ea typeface="Helvetica Neue"/>
                <a:cs typeface="Helvetica Neue"/>
              </a:rPr>
              <a:t>.</a:t>
            </a:r>
            <a:r>
              <a:rPr sz="2250" b="1" dirty="0">
                <a:solidFill>
                  <a:srgbClr val="111111"/>
                </a:solidFill>
                <a:latin typeface="Helvetica Neue"/>
                <a:ea typeface="Helvetica Neue"/>
                <a:cs typeface="Helvetica Neue"/>
              </a:rPr>
              <a:t>catalog files combine metadata, hierarchy, XML definitions, and cross-object references.</a:t>
            </a:r>
          </a:p>
        </p:txBody>
      </p:sp>
      <p:sp>
        <p:nvSpPr>
          <p:cNvPr id="4" name="problem-body">
            <a:extLst>
              <a:ext uri="{FF2B5EF4-FFF2-40B4-BE49-F238E27FC236}">
                <a16:creationId xmlns:a16="http://schemas.microsoft.com/office/drawing/2014/main" id="{DC643DFF-0001-153E-CDDC-E3DB02A54A39}"/>
              </a:ext>
            </a:extLst>
          </p:cNvPr>
          <p:cNvSpPr>
            <a:spLocks noGrp="1"/>
          </p:cNvSpPr>
          <p:nvPr/>
        </p:nvSpPr>
        <p:spPr>
          <a:xfrm>
            <a:off x="400050" y="3096984"/>
            <a:ext cx="4953000" cy="1809750"/>
          </a:xfrm>
          <a:prstGeom prst="rect">
            <a:avLst/>
          </a:prstGeom>
          <a:noFill/>
          <a:ln w="0">
            <a:noFill/>
            <a:prstDash val="solid"/>
          </a:ln>
        </p:spPr>
        <p:txBody>
          <a:bodyPr anchor="t"/>
          <a:lstStyle/>
          <a:p>
            <a:pPr>
              <a:defRPr sz="1800">
                <a:solidFill>
                  <a:srgbClr val="565C65"/>
                </a:solidFill>
                <a:latin typeface="Helvetica Neue"/>
                <a:ea typeface="Helvetica Neue"/>
                <a:cs typeface="Helvetica Neue"/>
              </a:defRPr>
            </a:pPr>
            <a:r>
              <a:rPr sz="1800" dirty="0">
                <a:solidFill>
                  <a:srgbClr val="565C65"/>
                </a:solidFill>
                <a:latin typeface="Helvetica Neue"/>
                <a:ea typeface="Helvetica Neue"/>
                <a:cs typeface="Helvetica Neue"/>
              </a:rPr>
              <a:t>The </a:t>
            </a:r>
            <a:r>
              <a:rPr lang="en-US" dirty="0">
                <a:solidFill>
                  <a:srgbClr val="565C65"/>
                </a:solidFill>
                <a:latin typeface="Helvetica Neue"/>
                <a:ea typeface="Helvetica Neue"/>
                <a:cs typeface="Helvetica Neue"/>
              </a:rPr>
              <a:t>P</a:t>
            </a:r>
            <a:r>
              <a:rPr lang="en-US" sz="1800" dirty="0">
                <a:solidFill>
                  <a:srgbClr val="565C65"/>
                </a:solidFill>
                <a:latin typeface="Helvetica Neue"/>
                <a:ea typeface="Helvetica Neue"/>
                <a:cs typeface="Helvetica Neue"/>
              </a:rPr>
              <a:t>arse-y </a:t>
            </a:r>
            <a:r>
              <a:rPr sz="1800" dirty="0">
                <a:solidFill>
                  <a:srgbClr val="565C65"/>
                </a:solidFill>
                <a:latin typeface="Helvetica Neue"/>
                <a:ea typeface="Helvetica Neue"/>
                <a:cs typeface="Helvetica Neue"/>
              </a:rPr>
              <a:t>project aligns each object’s XML with its title, path, type, ownership, and timestamps—then exposes the result in formats people can query and review.</a:t>
            </a:r>
          </a:p>
        </p:txBody>
      </p:sp>
      <p:sp>
        <p:nvSpPr>
          <p:cNvPr id="5" name="problem-callout">
            <a:extLst>
              <a:ext uri="{FF2B5EF4-FFF2-40B4-BE49-F238E27FC236}">
                <a16:creationId xmlns:a16="http://schemas.microsoft.com/office/drawing/2014/main" id="{9272FF03-A7D5-44A8-4D3B-9BB12A09D020}"/>
              </a:ext>
            </a:extLst>
          </p:cNvPr>
          <p:cNvSpPr>
            <a:spLocks noGrp="1"/>
          </p:cNvSpPr>
          <p:nvPr/>
        </p:nvSpPr>
        <p:spPr>
          <a:xfrm>
            <a:off x="400050" y="5257800"/>
            <a:ext cx="4953000" cy="476250"/>
          </a:xfrm>
          <a:prstGeom prst="rect">
            <a:avLst/>
          </a:prstGeom>
          <a:noFill/>
          <a:ln w="0">
            <a:noFill/>
            <a:prstDash val="solid"/>
          </a:ln>
        </p:spPr>
        <p:txBody>
          <a:bodyPr anchor="t"/>
          <a:lstStyle/>
          <a:p>
            <a:pPr>
              <a:defRPr sz="1650" b="1">
                <a:solidFill>
                  <a:srgbClr val="3D8DFF"/>
                </a:solidFill>
                <a:latin typeface="Helvetica Neue"/>
                <a:ea typeface="Helvetica Neue"/>
                <a:cs typeface="Helvetica Neue"/>
              </a:defRPr>
            </a:pPr>
            <a:endParaRPr sz="1650" b="1" dirty="0">
              <a:solidFill>
                <a:srgbClr val="3D8DFF"/>
              </a:solidFill>
              <a:latin typeface="Helvetica Neue"/>
              <a:ea typeface="Helvetica Neue"/>
              <a:cs typeface="Helvetica Neue"/>
            </a:endParaRPr>
          </a:p>
        </p:txBody>
      </p:sp>
      <p:sp>
        <p:nvSpPr>
          <p:cNvPr id="6" name="tree-backing">
            <a:extLst>
              <a:ext uri="{FF2B5EF4-FFF2-40B4-BE49-F238E27FC236}">
                <a16:creationId xmlns:a16="http://schemas.microsoft.com/office/drawing/2014/main" id="{E4931E26-28B5-99D3-AAA3-FB663241CF60}"/>
              </a:ext>
            </a:extLst>
          </p:cNvPr>
          <p:cNvSpPr>
            <a:spLocks noGrp="1"/>
          </p:cNvSpPr>
          <p:nvPr/>
        </p:nvSpPr>
        <p:spPr>
          <a:xfrm>
            <a:off x="6191250" y="1352550"/>
            <a:ext cx="5619750" cy="4667250"/>
          </a:xfrm>
          <a:prstGeom prst="rect">
            <a:avLst/>
          </a:prstGeom>
          <a:solidFill>
            <a:srgbClr val="F7F7F7"/>
          </a:solidFill>
          <a:ln w="9525">
            <a:solidFill>
              <a:srgbClr val="B8BCC4"/>
            </a:solidFill>
            <a:prstDash val="solid"/>
          </a:ln>
        </p:spPr>
        <p:txBody>
          <a:bodyPr/>
          <a:lstStyle/>
          <a:p>
            <a:endParaRPr lang="en-US"/>
          </a:p>
        </p:txBody>
      </p:sp>
      <p:pic>
        <p:nvPicPr>
          <p:cNvPr id="14" name="Picture 13">
            <a:extLst>
              <a:ext uri="{FF2B5EF4-FFF2-40B4-BE49-F238E27FC236}">
                <a16:creationId xmlns:a16="http://schemas.microsoft.com/office/drawing/2014/main" id="{3D2ED035-966D-2D53-463C-9840E0D3827A}"/>
              </a:ext>
            </a:extLst>
          </p:cNvPr>
          <p:cNvPicPr>
            <a:picLocks noChangeAspect="1"/>
          </p:cNvPicPr>
          <p:nvPr/>
        </p:nvPicPr>
        <p:blipFill>
          <a:blip r:embed="rId3"/>
          <a:stretch/>
        </p:blipFill>
        <p:spPr>
          <a:xfrm>
            <a:off x="6849496" y="1495425"/>
            <a:ext cx="4303259" cy="4381500"/>
          </a:xfrm>
          <a:prstGeom prst="rect">
            <a:avLst/>
          </a:prstGeom>
        </p:spPr>
      </p:pic>
    </p:spTree>
    <p:extLst>
      <p:ext uri="{BB962C8B-B14F-4D97-AF65-F5344CB8AC3E}">
        <p14:creationId xmlns:p14="http://schemas.microsoft.com/office/powerpoint/2010/main" val="3045119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75AE2C4-2503-700C-43C4-71954A946411}"/>
            </a:ext>
          </a:extLst>
        </p:cNvPr>
        <p:cNvGrpSpPr/>
        <p:nvPr/>
      </p:nvGrpSpPr>
      <p:grpSpPr>
        <a:xfrm>
          <a:off x="0" y="0"/>
          <a:ext cx="0" cy="0"/>
          <a:chOff x="0" y="0"/>
          <a:chExt cx="0" cy="0"/>
        </a:xfrm>
      </p:grpSpPr>
      <p:sp>
        <p:nvSpPr>
          <p:cNvPr id="8" name="slide-2-title">
            <a:extLst>
              <a:ext uri="{FF2B5EF4-FFF2-40B4-BE49-F238E27FC236}">
                <a16:creationId xmlns:a16="http://schemas.microsoft.com/office/drawing/2014/main" id="{09E5404C-F360-0A57-85E9-663C211EE5E7}"/>
              </a:ext>
            </a:extLst>
          </p:cNvPr>
          <p:cNvSpPr>
            <a:spLocks noGrp="1"/>
          </p:cNvSpPr>
          <p:nvPr/>
        </p:nvSpPr>
        <p:spPr>
          <a:xfrm>
            <a:off x="678975" y="1650251"/>
            <a:ext cx="6624336" cy="690251"/>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2000" b="1" dirty="0">
                <a:solidFill>
                  <a:srgbClr val="111111"/>
                </a:solidFill>
                <a:latin typeface="Helvetica Neue"/>
                <a:ea typeface="Helvetica Neue"/>
                <a:cs typeface="Helvetica Neue"/>
              </a:rPr>
              <a:t>Criteria Export: Before</a:t>
            </a:r>
          </a:p>
          <a:p>
            <a:pPr>
              <a:defRPr sz="3750" b="1">
                <a:solidFill>
                  <a:srgbClr val="111111"/>
                </a:solidFill>
                <a:latin typeface="Helvetica Neue"/>
                <a:ea typeface="Helvetica Neue"/>
                <a:cs typeface="Helvetica Neue"/>
              </a:defRPr>
            </a:pPr>
            <a:r>
              <a:rPr lang="en-US" sz="1600" b="1" dirty="0">
                <a:solidFill>
                  <a:srgbClr val="111111"/>
                </a:solidFill>
                <a:latin typeface="Helvetica Neue"/>
                <a:ea typeface="Helvetica Neue"/>
                <a:cs typeface="Helvetica Neue"/>
              </a:rPr>
              <a:t>(without Parse-y)</a:t>
            </a:r>
          </a:p>
        </p:txBody>
      </p:sp>
      <p:sp>
        <p:nvSpPr>
          <p:cNvPr id="2" name="slide-2-number">
            <a:extLst>
              <a:ext uri="{FF2B5EF4-FFF2-40B4-BE49-F238E27FC236}">
                <a16:creationId xmlns:a16="http://schemas.microsoft.com/office/drawing/2014/main" id="{3AB79619-6EF7-0894-FB36-8574DCDF989A}"/>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02</a:t>
            </a:r>
          </a:p>
        </p:txBody>
      </p:sp>
      <p:pic>
        <p:nvPicPr>
          <p:cNvPr id="23" name="Graphic 22" descr="Mermaid diagram">
            <a:extLst>
              <a:ext uri="{FF2B5EF4-FFF2-40B4-BE49-F238E27FC236}">
                <a16:creationId xmlns:a16="http://schemas.microsoft.com/office/drawing/2014/main" id="{198720D9-45C0-7A66-2122-5B301744B2E9}"/>
              </a:ext>
            </a:extLst>
          </p:cNvPr>
          <p:cNvPicPr>
            <a:picLocks noChangeAspect="1"/>
          </p:cNvPicPr>
          <p:nvPr/>
        </p:nvPicPr>
        <p:blipFill>
          <a:blip>
            <a:extLst>
              <a:ext uri="{96DAC541-7B7A-43D3-8B79-37D633B846F1}">
                <asvg:svgBlip xmlns:asvg="http://schemas.microsoft.com/office/drawing/2016/SVG/main" r:embed="rId3"/>
              </a:ext>
            </a:extLst>
          </a:blip>
          <a:srcRect l="6865" t="319" r="6914" b="76370"/>
          <a:stretch>
            <a:fillRect/>
          </a:stretch>
        </p:blipFill>
        <p:spPr>
          <a:xfrm>
            <a:off x="9000258" y="2341735"/>
            <a:ext cx="1140197" cy="3394729"/>
          </a:xfrm>
          <a:prstGeom prst="rect">
            <a:avLst/>
          </a:prstGeom>
        </p:spPr>
      </p:pic>
      <p:pic>
        <p:nvPicPr>
          <p:cNvPr id="24" name="Graphic 23" descr="Mermaid diagram">
            <a:extLst>
              <a:ext uri="{FF2B5EF4-FFF2-40B4-BE49-F238E27FC236}">
                <a16:creationId xmlns:a16="http://schemas.microsoft.com/office/drawing/2014/main" id="{F5C8F4BC-DF8B-D026-C78F-9159875A3CB4}"/>
              </a:ext>
            </a:extLst>
          </p:cNvPr>
          <p:cNvPicPr>
            <a:picLocks noChangeAspect="1"/>
          </p:cNvPicPr>
          <p:nvPr/>
        </p:nvPicPr>
        <p:blipFill>
          <a:blip>
            <a:extLst>
              <a:ext uri="{96DAC541-7B7A-43D3-8B79-37D633B846F1}">
                <asvg:svgBlip xmlns:asvg="http://schemas.microsoft.com/office/drawing/2016/SVG/main" r:embed="rId3"/>
              </a:ext>
            </a:extLst>
          </a:blip>
          <a:srcRect l="8040" t="25728" r="4810" b="49067"/>
          <a:stretch>
            <a:fillRect/>
          </a:stretch>
        </p:blipFill>
        <p:spPr>
          <a:xfrm>
            <a:off x="678975" y="2405888"/>
            <a:ext cx="1288790" cy="4104538"/>
          </a:xfrm>
          <a:prstGeom prst="rect">
            <a:avLst/>
          </a:prstGeom>
        </p:spPr>
      </p:pic>
      <p:pic>
        <p:nvPicPr>
          <p:cNvPr id="25" name="Graphic 24" descr="Mermaid diagram">
            <a:extLst>
              <a:ext uri="{FF2B5EF4-FFF2-40B4-BE49-F238E27FC236}">
                <a16:creationId xmlns:a16="http://schemas.microsoft.com/office/drawing/2014/main" id="{1BF4AE15-2A99-B5BA-363D-7C2EAD103689}"/>
              </a:ext>
            </a:extLst>
          </p:cNvPr>
          <p:cNvPicPr>
            <a:picLocks noChangeAspect="1"/>
          </p:cNvPicPr>
          <p:nvPr/>
        </p:nvPicPr>
        <p:blipFill>
          <a:blip>
            <a:extLst>
              <a:ext uri="{96DAC541-7B7A-43D3-8B79-37D633B846F1}">
                <asvg:svgBlip xmlns:asvg="http://schemas.microsoft.com/office/drawing/2016/SVG/main" r:embed="rId3"/>
              </a:ext>
            </a:extLst>
          </a:blip>
          <a:srcRect l="6820" t="51589" r="8220" b="24205"/>
          <a:stretch>
            <a:fillRect/>
          </a:stretch>
        </p:blipFill>
        <p:spPr>
          <a:xfrm>
            <a:off x="2681208" y="2601949"/>
            <a:ext cx="1256396" cy="3941726"/>
          </a:xfrm>
          <a:prstGeom prst="rect">
            <a:avLst/>
          </a:prstGeom>
        </p:spPr>
      </p:pic>
      <p:pic>
        <p:nvPicPr>
          <p:cNvPr id="27" name="Graphic 26" descr="Mermaid diagram">
            <a:extLst>
              <a:ext uri="{FF2B5EF4-FFF2-40B4-BE49-F238E27FC236}">
                <a16:creationId xmlns:a16="http://schemas.microsoft.com/office/drawing/2014/main" id="{ED204AA4-1084-959B-2073-0794F746FBC9}"/>
              </a:ext>
            </a:extLst>
          </p:cNvPr>
          <p:cNvPicPr>
            <a:picLocks noChangeAspect="1"/>
          </p:cNvPicPr>
          <p:nvPr/>
        </p:nvPicPr>
        <p:blipFill>
          <a:blip>
            <a:extLst>
              <a:ext uri="{96DAC541-7B7A-43D3-8B79-37D633B846F1}">
                <asvg:svgBlip xmlns:asvg="http://schemas.microsoft.com/office/drawing/2016/SVG/main" r:embed="rId3"/>
              </a:ext>
            </a:extLst>
          </a:blip>
          <a:srcRect l="4440" t="77561" r="8409" b="694"/>
          <a:stretch>
            <a:fillRect/>
          </a:stretch>
        </p:blipFill>
        <p:spPr>
          <a:xfrm>
            <a:off x="4516528" y="2523508"/>
            <a:ext cx="1288789" cy="3541312"/>
          </a:xfrm>
          <a:prstGeom prst="rect">
            <a:avLst/>
          </a:prstGeom>
        </p:spPr>
      </p:pic>
      <p:sp>
        <p:nvSpPr>
          <p:cNvPr id="28" name="Right Arrow 27">
            <a:extLst>
              <a:ext uri="{FF2B5EF4-FFF2-40B4-BE49-F238E27FC236}">
                <a16:creationId xmlns:a16="http://schemas.microsoft.com/office/drawing/2014/main" id="{CE9AB670-CE91-F073-91D9-02200DE60560}"/>
              </a:ext>
            </a:extLst>
          </p:cNvPr>
          <p:cNvSpPr/>
          <p:nvPr/>
        </p:nvSpPr>
        <p:spPr>
          <a:xfrm>
            <a:off x="6486367" y="3641558"/>
            <a:ext cx="1019287" cy="53239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94C3F69-EF60-F908-F39D-5A0209B05AED}"/>
              </a:ext>
            </a:extLst>
          </p:cNvPr>
          <p:cNvSpPr txBox="1"/>
          <p:nvPr/>
        </p:nvSpPr>
        <p:spPr>
          <a:xfrm>
            <a:off x="8040781" y="1695404"/>
            <a:ext cx="3014515" cy="646331"/>
          </a:xfrm>
          <a:prstGeom prst="rect">
            <a:avLst/>
          </a:prstGeom>
          <a:noFill/>
        </p:spPr>
        <p:txBody>
          <a:bodyPr wrap="square">
            <a:spAutoFit/>
          </a:bodyPr>
          <a:lstStyle/>
          <a:p>
            <a:pPr>
              <a:defRPr sz="3750" b="1">
                <a:solidFill>
                  <a:srgbClr val="111111"/>
                </a:solidFill>
                <a:latin typeface="Helvetica Neue"/>
                <a:ea typeface="Helvetica Neue"/>
                <a:cs typeface="Helvetica Neue"/>
              </a:defRPr>
            </a:pPr>
            <a:r>
              <a:rPr lang="en-US" sz="2000" b="1" dirty="0">
                <a:solidFill>
                  <a:srgbClr val="111111"/>
                </a:solidFill>
                <a:latin typeface="Helvetica Neue"/>
                <a:ea typeface="Helvetica Neue"/>
                <a:cs typeface="Helvetica Neue"/>
              </a:rPr>
              <a:t>Criteria Export: After</a:t>
            </a:r>
          </a:p>
          <a:p>
            <a:pPr>
              <a:defRPr sz="3750" b="1">
                <a:solidFill>
                  <a:srgbClr val="111111"/>
                </a:solidFill>
                <a:latin typeface="Helvetica Neue"/>
                <a:ea typeface="Helvetica Neue"/>
                <a:cs typeface="Helvetica Neue"/>
              </a:defRPr>
            </a:pPr>
            <a:r>
              <a:rPr lang="en-US" sz="1600" b="1" dirty="0">
                <a:solidFill>
                  <a:srgbClr val="111111"/>
                </a:solidFill>
                <a:latin typeface="Helvetica Neue"/>
                <a:ea typeface="Helvetica Neue"/>
                <a:cs typeface="Helvetica Neue"/>
              </a:rPr>
              <a:t>(with Parse-y)</a:t>
            </a:r>
          </a:p>
        </p:txBody>
      </p:sp>
      <p:sp>
        <p:nvSpPr>
          <p:cNvPr id="32" name="slide-2-title">
            <a:extLst>
              <a:ext uri="{FF2B5EF4-FFF2-40B4-BE49-F238E27FC236}">
                <a16:creationId xmlns:a16="http://schemas.microsoft.com/office/drawing/2014/main" id="{6C63441D-7C96-41A7-59E1-457B88C0A933}"/>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From manual copy-and-paste to automated criteria extraction</a:t>
            </a:r>
          </a:p>
        </p:txBody>
      </p:sp>
    </p:spTree>
    <p:extLst>
      <p:ext uri="{BB962C8B-B14F-4D97-AF65-F5344CB8AC3E}">
        <p14:creationId xmlns:p14="http://schemas.microsoft.com/office/powerpoint/2010/main" val="2062625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3-title">
            <a:extLst>
              <a:ext uri="{FF2B5EF4-FFF2-40B4-BE49-F238E27FC236}">
                <a16:creationId xmlns:a16="http://schemas.microsoft.com/office/drawing/2014/main" id="{9D6A29F3-F707-42FA-A18F-1C6CB8C5ABC8}"/>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sz="3750" b="1">
                <a:solidFill>
                  <a:srgbClr val="111111"/>
                </a:solidFill>
                <a:latin typeface="Helvetica Neue"/>
                <a:ea typeface="Helvetica Neue"/>
                <a:cs typeface="Helvetica Neue"/>
              </a:rPr>
              <a:t>One command runs the parsing pipeline</a:t>
            </a:r>
          </a:p>
        </p:txBody>
      </p:sp>
      <p:sp>
        <p:nvSpPr>
          <p:cNvPr id="2" name="slide-3-number">
            <a:extLst>
              <a:ext uri="{FF2B5EF4-FFF2-40B4-BE49-F238E27FC236}">
                <a16:creationId xmlns:a16="http://schemas.microsoft.com/office/drawing/2014/main" id="{BA4AB724-A260-4820-A6CA-9A4AFB000AE3}"/>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03</a:t>
            </a:r>
          </a:p>
        </p:txBody>
      </p:sp>
      <p:sp>
        <p:nvSpPr>
          <p:cNvPr id="3" name="pipeline-backing">
            <a:extLst>
              <a:ext uri="{FF2B5EF4-FFF2-40B4-BE49-F238E27FC236}">
                <a16:creationId xmlns:a16="http://schemas.microsoft.com/office/drawing/2014/main" id="{5C05A30B-09DB-4642-B252-047B07421574}"/>
              </a:ext>
            </a:extLst>
          </p:cNvPr>
          <p:cNvSpPr>
            <a:spLocks noGrp="1"/>
          </p:cNvSpPr>
          <p:nvPr/>
        </p:nvSpPr>
        <p:spPr>
          <a:xfrm>
            <a:off x="400050" y="1333500"/>
            <a:ext cx="8858250" cy="4762500"/>
          </a:xfrm>
          <a:prstGeom prst="rect">
            <a:avLst/>
          </a:prstGeom>
          <a:solidFill>
            <a:srgbClr val="FAFAFA"/>
          </a:solidFill>
          <a:ln w="9525">
            <a:solidFill>
              <a:srgbClr val="B8BCC4"/>
            </a:solidFill>
            <a:prstDash val="solid"/>
          </a:ln>
        </p:spPr>
        <p:txBody>
          <a:bodyPr/>
          <a:lstStyle/>
          <a:p>
            <a:endParaRPr lang="en-US"/>
          </a:p>
        </p:txBody>
      </p:sp>
      <p:pic>
        <p:nvPicPr>
          <p:cNvPr id="14" name="Picture 13"/>
          <p:cNvPicPr>
            <a:picLocks noChangeAspect="1"/>
          </p:cNvPicPr>
          <p:nvPr/>
        </p:nvPicPr>
        <p:blipFill>
          <a:blip r:embed="rId3"/>
          <a:stretch/>
        </p:blipFill>
        <p:spPr>
          <a:xfrm>
            <a:off x="1066800" y="1447800"/>
            <a:ext cx="7524750" cy="4514850"/>
          </a:xfrm>
          <a:prstGeom prst="rect">
            <a:avLst/>
          </a:prstGeom>
        </p:spPr>
      </p:pic>
      <p:sp>
        <p:nvSpPr>
          <p:cNvPr id="5" name="rail-1-title">
            <a:extLst>
              <a:ext uri="{FF2B5EF4-FFF2-40B4-BE49-F238E27FC236}">
                <a16:creationId xmlns:a16="http://schemas.microsoft.com/office/drawing/2014/main" id="{5C77F90D-7307-4383-878D-1C52C719F7C9}"/>
              </a:ext>
            </a:extLst>
          </p:cNvPr>
          <p:cNvSpPr>
            <a:spLocks noGrp="1"/>
          </p:cNvSpPr>
          <p:nvPr/>
        </p:nvSpPr>
        <p:spPr>
          <a:xfrm>
            <a:off x="9544050" y="1600200"/>
            <a:ext cx="2190750" cy="342900"/>
          </a:xfrm>
          <a:prstGeom prst="rect">
            <a:avLst/>
          </a:prstGeom>
          <a:noFill/>
          <a:ln w="0">
            <a:noFill/>
            <a:prstDash val="solid"/>
          </a:ln>
        </p:spPr>
        <p:txBody>
          <a:bodyPr anchor="t"/>
          <a:lstStyle/>
          <a:p>
            <a:pPr>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Shared extract</a:t>
            </a:r>
          </a:p>
        </p:txBody>
      </p:sp>
      <p:sp>
        <p:nvSpPr>
          <p:cNvPr id="6" name="rail-1-body">
            <a:extLst>
              <a:ext uri="{FF2B5EF4-FFF2-40B4-BE49-F238E27FC236}">
                <a16:creationId xmlns:a16="http://schemas.microsoft.com/office/drawing/2014/main" id="{BAA534AE-D4CE-47A4-9D5E-D98CF9450087}"/>
              </a:ext>
            </a:extLst>
          </p:cNvPr>
          <p:cNvSpPr>
            <a:spLocks noGrp="1"/>
          </p:cNvSpPr>
          <p:nvPr/>
        </p:nvSpPr>
        <p:spPr>
          <a:xfrm>
            <a:off x="9544050" y="2019300"/>
            <a:ext cx="2190750" cy="78105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Metadata + full XML become the foundation for every branch.</a:t>
            </a:r>
          </a:p>
        </p:txBody>
      </p:sp>
      <p:sp>
        <p:nvSpPr>
          <p:cNvPr id="7" name="rule-1002-320">
            <a:extLst>
              <a:ext uri="{FF2B5EF4-FFF2-40B4-BE49-F238E27FC236}">
                <a16:creationId xmlns:a16="http://schemas.microsoft.com/office/drawing/2014/main" id="{DA7590EF-9C12-45D0-A798-85CEF4DA7ADB}"/>
              </a:ext>
            </a:extLst>
          </p:cNvPr>
          <p:cNvSpPr>
            <a:spLocks noGrp="1"/>
          </p:cNvSpPr>
          <p:nvPr/>
        </p:nvSpPr>
        <p:spPr>
          <a:xfrm>
            <a:off x="9544050" y="3048000"/>
            <a:ext cx="2190750" cy="38100"/>
          </a:xfrm>
          <a:prstGeom prst="rect">
            <a:avLst/>
          </a:prstGeom>
          <a:solidFill>
            <a:srgbClr val="3D8DFF"/>
          </a:solidFill>
          <a:ln w="0">
            <a:noFill/>
            <a:prstDash val="solid"/>
          </a:ln>
        </p:spPr>
        <p:txBody>
          <a:bodyPr/>
          <a:lstStyle/>
          <a:p>
            <a:endParaRPr lang="en-US"/>
          </a:p>
        </p:txBody>
      </p:sp>
      <p:sp>
        <p:nvSpPr>
          <p:cNvPr id="8" name="rail-2-title">
            <a:extLst>
              <a:ext uri="{FF2B5EF4-FFF2-40B4-BE49-F238E27FC236}">
                <a16:creationId xmlns:a16="http://schemas.microsoft.com/office/drawing/2014/main" id="{E93BE9FB-8362-4F82-AB62-D48FDA235373}"/>
              </a:ext>
            </a:extLst>
          </p:cNvPr>
          <p:cNvSpPr>
            <a:spLocks noGrp="1"/>
          </p:cNvSpPr>
          <p:nvPr/>
        </p:nvSpPr>
        <p:spPr>
          <a:xfrm>
            <a:off x="9544050" y="3333750"/>
            <a:ext cx="2190750" cy="342900"/>
          </a:xfrm>
          <a:prstGeom prst="rect">
            <a:avLst/>
          </a:prstGeom>
          <a:noFill/>
          <a:ln w="0">
            <a:noFill/>
            <a:prstDash val="solid"/>
          </a:ln>
        </p:spPr>
        <p:txBody>
          <a:bodyPr anchor="t"/>
          <a:lstStyle/>
          <a:p>
            <a:pPr>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Conditional</a:t>
            </a:r>
          </a:p>
        </p:txBody>
      </p:sp>
      <p:sp>
        <p:nvSpPr>
          <p:cNvPr id="9" name="rail-2-body">
            <a:extLst>
              <a:ext uri="{FF2B5EF4-FFF2-40B4-BE49-F238E27FC236}">
                <a16:creationId xmlns:a16="http://schemas.microsoft.com/office/drawing/2014/main" id="{CBA4B35D-685F-4AC0-A293-8784D11B93FF}"/>
              </a:ext>
            </a:extLst>
          </p:cNvPr>
          <p:cNvSpPr>
            <a:spLocks noGrp="1"/>
          </p:cNvSpPr>
          <p:nvPr/>
        </p:nvSpPr>
        <p:spPr>
          <a:xfrm>
            <a:off x="9544050" y="3752850"/>
            <a:ext cx="2190750" cy="106680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Columns, filters, and dependencies run only when relevant objects are present.</a:t>
            </a:r>
          </a:p>
        </p:txBody>
      </p:sp>
      <p:sp>
        <p:nvSpPr>
          <p:cNvPr id="10" name="rail-callout">
            <a:extLst>
              <a:ext uri="{FF2B5EF4-FFF2-40B4-BE49-F238E27FC236}">
                <a16:creationId xmlns:a16="http://schemas.microsoft.com/office/drawing/2014/main" id="{C96BD8A6-9A1A-4893-9570-05057B8151C4}"/>
              </a:ext>
            </a:extLst>
          </p:cNvPr>
          <p:cNvSpPr>
            <a:spLocks noGrp="1"/>
          </p:cNvSpPr>
          <p:nvPr/>
        </p:nvSpPr>
        <p:spPr>
          <a:xfrm>
            <a:off x="9544050" y="5391150"/>
            <a:ext cx="2190750" cy="457200"/>
          </a:xfrm>
          <a:prstGeom prst="rect">
            <a:avLst/>
          </a:prstGeom>
          <a:noFill/>
          <a:ln w="0">
            <a:noFill/>
            <a:prstDash val="solid"/>
          </a:ln>
        </p:spPr>
        <p:txBody>
          <a:bodyPr anchor="t"/>
          <a:lstStyle/>
          <a:p>
            <a:pPr>
              <a:defRPr sz="1500" b="1">
                <a:solidFill>
                  <a:srgbClr val="3D8DFF"/>
                </a:solidFill>
                <a:latin typeface="Helvetica Neue"/>
                <a:ea typeface="Helvetica Neue"/>
                <a:cs typeface="Helvetica Neue"/>
              </a:defRPr>
            </a:pPr>
            <a:r>
              <a:rPr lang="en-US" sz="1500" b="1" dirty="0">
                <a:solidFill>
                  <a:srgbClr val="3D8DFF"/>
                </a:solidFill>
                <a:latin typeface="Helvetica Neue"/>
                <a:ea typeface="Helvetica Neue"/>
                <a:cs typeface="Helvetica Neue"/>
              </a:rPr>
              <a:t>RStudio + Codex + </a:t>
            </a:r>
            <a:r>
              <a:rPr lang="en-US" sz="1500" b="1" dirty="0" err="1">
                <a:solidFill>
                  <a:srgbClr val="3D8DFF"/>
                </a:solidFill>
                <a:latin typeface="Helvetica Neue"/>
                <a:ea typeface="Helvetica Neue"/>
                <a:cs typeface="Helvetica Neue"/>
              </a:rPr>
              <a:t>VSCode</a:t>
            </a:r>
            <a:r>
              <a:rPr lang="en-US" sz="1500" b="1" dirty="0">
                <a:solidFill>
                  <a:srgbClr val="3D8DFF"/>
                </a:solidFill>
                <a:latin typeface="Helvetica Neue"/>
                <a:ea typeface="Helvetica Neue"/>
                <a:cs typeface="Helvetica Neue"/>
              </a:rPr>
              <a:t> </a:t>
            </a:r>
            <a:endParaRPr sz="1500" b="1" dirty="0">
              <a:solidFill>
                <a:srgbClr val="3D8DFF"/>
              </a:solidFill>
              <a:latin typeface="Helvetica Neue"/>
              <a:ea typeface="Helvetica Neue"/>
              <a:cs typeface="Helvetica Neue"/>
            </a:endParaRPr>
          </a:p>
        </p:txBody>
      </p:sp>
    </p:spTree>
    <p:extLst>
      <p:ext uri="{BB962C8B-B14F-4D97-AF65-F5344CB8AC3E}">
        <p14:creationId xmlns:p14="http://schemas.microsoft.com/office/powerpoint/2010/main" val="2082565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slide-4-title">
            <a:extLst>
              <a:ext uri="{FF2B5EF4-FFF2-40B4-BE49-F238E27FC236}">
                <a16:creationId xmlns:a16="http://schemas.microsoft.com/office/drawing/2014/main" id="{7287813D-A5B7-4568-98CE-86273479430E}"/>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From .catalog to criteria and connections</a:t>
            </a:r>
          </a:p>
        </p:txBody>
      </p:sp>
      <p:sp>
        <p:nvSpPr>
          <p:cNvPr id="2" name="slide-4-number">
            <a:extLst>
              <a:ext uri="{FF2B5EF4-FFF2-40B4-BE49-F238E27FC236}">
                <a16:creationId xmlns:a16="http://schemas.microsoft.com/office/drawing/2014/main" id="{E6F3C0D0-B8BC-40B6-A6E9-C0F38C5167DE}"/>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04</a:t>
            </a:r>
          </a:p>
        </p:txBody>
      </p:sp>
      <p:sp>
        <p:nvSpPr>
          <p:cNvPr id="3" name="metric-0-value">
            <a:extLst>
              <a:ext uri="{FF2B5EF4-FFF2-40B4-BE49-F238E27FC236}">
                <a16:creationId xmlns:a16="http://schemas.microsoft.com/office/drawing/2014/main" id="{3E83D4FB-4A3F-4415-8883-0BE33E56B41A}"/>
              </a:ext>
            </a:extLst>
          </p:cNvPr>
          <p:cNvSpPr>
            <a:spLocks noGrp="1"/>
          </p:cNvSpPr>
          <p:nvPr/>
        </p:nvSpPr>
        <p:spPr>
          <a:xfrm>
            <a:off x="400050" y="1714500"/>
            <a:ext cx="2381250" cy="952500"/>
          </a:xfrm>
          <a:prstGeom prst="rect">
            <a:avLst/>
          </a:prstGeom>
          <a:noFill/>
          <a:ln w="0">
            <a:noFill/>
            <a:prstDash val="solid"/>
          </a:ln>
        </p:spPr>
        <p:txBody>
          <a:bodyPr anchor="t"/>
          <a:lstStyle/>
          <a:p>
            <a:pPr>
              <a:defRPr sz="5400" b="1">
                <a:solidFill>
                  <a:srgbClr val="111111"/>
                </a:solidFill>
                <a:latin typeface="Helvetica Neue"/>
                <a:ea typeface="Helvetica Neue"/>
                <a:cs typeface="Helvetica Neue"/>
              </a:defRPr>
            </a:pPr>
            <a:r>
              <a:rPr sz="5400" b="1">
                <a:solidFill>
                  <a:srgbClr val="111111"/>
                </a:solidFill>
                <a:latin typeface="Helvetica Neue"/>
                <a:ea typeface="Helvetica Neue"/>
                <a:cs typeface="Helvetica Neue"/>
              </a:rPr>
              <a:t>308</a:t>
            </a:r>
          </a:p>
        </p:txBody>
      </p:sp>
      <p:sp>
        <p:nvSpPr>
          <p:cNvPr id="4" name="metric-0-label">
            <a:extLst>
              <a:ext uri="{FF2B5EF4-FFF2-40B4-BE49-F238E27FC236}">
                <a16:creationId xmlns:a16="http://schemas.microsoft.com/office/drawing/2014/main" id="{A50796BA-17C2-4C52-B6CD-3FDBD6289C09}"/>
              </a:ext>
            </a:extLst>
          </p:cNvPr>
          <p:cNvSpPr>
            <a:spLocks noGrp="1"/>
          </p:cNvSpPr>
          <p:nvPr/>
        </p:nvSpPr>
        <p:spPr>
          <a:xfrm>
            <a:off x="400050" y="2724150"/>
            <a:ext cx="2381250" cy="4000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catalog objects</a:t>
            </a:r>
          </a:p>
        </p:txBody>
      </p:sp>
      <p:sp>
        <p:nvSpPr>
          <p:cNvPr id="5" name="metric-0-body">
            <a:extLst>
              <a:ext uri="{FF2B5EF4-FFF2-40B4-BE49-F238E27FC236}">
                <a16:creationId xmlns:a16="http://schemas.microsoft.com/office/drawing/2014/main" id="{42EA4D3D-C262-4208-85AE-8E011D592066}"/>
              </a:ext>
            </a:extLst>
          </p:cNvPr>
          <p:cNvSpPr>
            <a:spLocks noGrp="1"/>
          </p:cNvSpPr>
          <p:nvPr/>
        </p:nvSpPr>
        <p:spPr>
          <a:xfrm>
            <a:off x="400050" y="3333750"/>
            <a:ext cx="2381250" cy="133350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Reports, saved objects, dashboards, and other XML-backed items</a:t>
            </a:r>
          </a:p>
        </p:txBody>
      </p:sp>
      <p:sp>
        <p:nvSpPr>
          <p:cNvPr id="6" name="rule-320-170">
            <a:extLst>
              <a:ext uri="{FF2B5EF4-FFF2-40B4-BE49-F238E27FC236}">
                <a16:creationId xmlns:a16="http://schemas.microsoft.com/office/drawing/2014/main" id="{34F919D5-2FE7-4927-8975-583539BA7511}"/>
              </a:ext>
            </a:extLst>
          </p:cNvPr>
          <p:cNvSpPr>
            <a:spLocks noGrp="1"/>
          </p:cNvSpPr>
          <p:nvPr/>
        </p:nvSpPr>
        <p:spPr>
          <a:xfrm>
            <a:off x="3048000" y="1619250"/>
            <a:ext cx="19050" cy="3429000"/>
          </a:xfrm>
          <a:prstGeom prst="rect">
            <a:avLst/>
          </a:prstGeom>
          <a:solidFill>
            <a:srgbClr val="B8BCC4"/>
          </a:solidFill>
          <a:ln w="0">
            <a:noFill/>
            <a:prstDash val="solid"/>
          </a:ln>
        </p:spPr>
        <p:txBody>
          <a:bodyPr/>
          <a:lstStyle/>
          <a:p>
            <a:endParaRPr lang="en-US"/>
          </a:p>
        </p:txBody>
      </p:sp>
      <p:sp>
        <p:nvSpPr>
          <p:cNvPr id="7" name="metric-1-value">
            <a:extLst>
              <a:ext uri="{FF2B5EF4-FFF2-40B4-BE49-F238E27FC236}">
                <a16:creationId xmlns:a16="http://schemas.microsoft.com/office/drawing/2014/main" id="{14D1ABF8-29E1-42C4-9B64-C942E78E976F}"/>
              </a:ext>
            </a:extLst>
          </p:cNvPr>
          <p:cNvSpPr>
            <a:spLocks noGrp="1"/>
          </p:cNvSpPr>
          <p:nvPr/>
        </p:nvSpPr>
        <p:spPr>
          <a:xfrm>
            <a:off x="3276600" y="1714500"/>
            <a:ext cx="2381250" cy="952500"/>
          </a:xfrm>
          <a:prstGeom prst="rect">
            <a:avLst/>
          </a:prstGeom>
          <a:noFill/>
          <a:ln w="0">
            <a:noFill/>
            <a:prstDash val="solid"/>
          </a:ln>
        </p:spPr>
        <p:txBody>
          <a:bodyPr anchor="t"/>
          <a:lstStyle/>
          <a:p>
            <a:pPr>
              <a:defRPr sz="5400" b="1">
                <a:solidFill>
                  <a:srgbClr val="111111"/>
                </a:solidFill>
                <a:latin typeface="Helvetica Neue"/>
                <a:ea typeface="Helvetica Neue"/>
                <a:cs typeface="Helvetica Neue"/>
              </a:defRPr>
            </a:pPr>
            <a:r>
              <a:rPr sz="5400" b="1">
                <a:solidFill>
                  <a:srgbClr val="111111"/>
                </a:solidFill>
                <a:latin typeface="Helvetica Neue"/>
                <a:ea typeface="Helvetica Neue"/>
                <a:cs typeface="Helvetica Neue"/>
              </a:rPr>
              <a:t>761</a:t>
            </a:r>
          </a:p>
        </p:txBody>
      </p:sp>
      <p:sp>
        <p:nvSpPr>
          <p:cNvPr id="8" name="metric-1-label">
            <a:extLst>
              <a:ext uri="{FF2B5EF4-FFF2-40B4-BE49-F238E27FC236}">
                <a16:creationId xmlns:a16="http://schemas.microsoft.com/office/drawing/2014/main" id="{3D97125E-3AF9-46F1-90C1-722BC22B6840}"/>
              </a:ext>
            </a:extLst>
          </p:cNvPr>
          <p:cNvSpPr>
            <a:spLocks noGrp="1"/>
          </p:cNvSpPr>
          <p:nvPr/>
        </p:nvSpPr>
        <p:spPr>
          <a:xfrm>
            <a:off x="3276600" y="2724150"/>
            <a:ext cx="2381250" cy="4000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column records</a:t>
            </a:r>
          </a:p>
        </p:txBody>
      </p:sp>
      <p:sp>
        <p:nvSpPr>
          <p:cNvPr id="9" name="metric-1-body">
            <a:extLst>
              <a:ext uri="{FF2B5EF4-FFF2-40B4-BE49-F238E27FC236}">
                <a16:creationId xmlns:a16="http://schemas.microsoft.com/office/drawing/2014/main" id="{D3650E2D-616B-4809-A6F1-DFC18C4FD442}"/>
              </a:ext>
            </a:extLst>
          </p:cNvPr>
          <p:cNvSpPr>
            <a:spLocks noGrp="1"/>
          </p:cNvSpPr>
          <p:nvPr/>
        </p:nvSpPr>
        <p:spPr>
          <a:xfrm>
            <a:off x="3276600" y="3333750"/>
            <a:ext cx="2381250" cy="133350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Inline columns, saved references, and standalone definitions</a:t>
            </a:r>
          </a:p>
        </p:txBody>
      </p:sp>
      <p:sp>
        <p:nvSpPr>
          <p:cNvPr id="10" name="rule-622-170">
            <a:extLst>
              <a:ext uri="{FF2B5EF4-FFF2-40B4-BE49-F238E27FC236}">
                <a16:creationId xmlns:a16="http://schemas.microsoft.com/office/drawing/2014/main" id="{E1467BA1-C645-4415-A1D9-490EFA4AE090}"/>
              </a:ext>
            </a:extLst>
          </p:cNvPr>
          <p:cNvSpPr>
            <a:spLocks noGrp="1"/>
          </p:cNvSpPr>
          <p:nvPr/>
        </p:nvSpPr>
        <p:spPr>
          <a:xfrm>
            <a:off x="5924550" y="1619250"/>
            <a:ext cx="19050" cy="3429000"/>
          </a:xfrm>
          <a:prstGeom prst="rect">
            <a:avLst/>
          </a:prstGeom>
          <a:solidFill>
            <a:srgbClr val="B8BCC4"/>
          </a:solidFill>
          <a:ln w="0">
            <a:noFill/>
            <a:prstDash val="solid"/>
          </a:ln>
        </p:spPr>
        <p:txBody>
          <a:bodyPr/>
          <a:lstStyle/>
          <a:p>
            <a:endParaRPr lang="en-US"/>
          </a:p>
        </p:txBody>
      </p:sp>
      <p:sp>
        <p:nvSpPr>
          <p:cNvPr id="11" name="metric-2-value">
            <a:extLst>
              <a:ext uri="{FF2B5EF4-FFF2-40B4-BE49-F238E27FC236}">
                <a16:creationId xmlns:a16="http://schemas.microsoft.com/office/drawing/2014/main" id="{AC829D6C-35B6-4367-8CAB-F4A5CC378AD1}"/>
              </a:ext>
            </a:extLst>
          </p:cNvPr>
          <p:cNvSpPr>
            <a:spLocks noGrp="1"/>
          </p:cNvSpPr>
          <p:nvPr/>
        </p:nvSpPr>
        <p:spPr>
          <a:xfrm>
            <a:off x="6153150" y="1714500"/>
            <a:ext cx="2381250" cy="952500"/>
          </a:xfrm>
          <a:prstGeom prst="rect">
            <a:avLst/>
          </a:prstGeom>
          <a:noFill/>
          <a:ln w="0">
            <a:noFill/>
            <a:prstDash val="solid"/>
          </a:ln>
        </p:spPr>
        <p:txBody>
          <a:bodyPr anchor="t"/>
          <a:lstStyle/>
          <a:p>
            <a:pPr>
              <a:defRPr sz="5400" b="1">
                <a:solidFill>
                  <a:srgbClr val="111111"/>
                </a:solidFill>
                <a:latin typeface="Helvetica Neue"/>
                <a:ea typeface="Helvetica Neue"/>
                <a:cs typeface="Helvetica Neue"/>
              </a:defRPr>
            </a:pPr>
            <a:r>
              <a:rPr sz="5400" b="1">
                <a:solidFill>
                  <a:srgbClr val="111111"/>
                </a:solidFill>
                <a:latin typeface="Helvetica Neue"/>
                <a:ea typeface="Helvetica Neue"/>
                <a:cs typeface="Helvetica Neue"/>
              </a:rPr>
              <a:t>315</a:t>
            </a:r>
          </a:p>
        </p:txBody>
      </p:sp>
      <p:sp>
        <p:nvSpPr>
          <p:cNvPr id="12" name="metric-2-label">
            <a:extLst>
              <a:ext uri="{FF2B5EF4-FFF2-40B4-BE49-F238E27FC236}">
                <a16:creationId xmlns:a16="http://schemas.microsoft.com/office/drawing/2014/main" id="{1595CD42-4541-47EB-8C14-6C9C21AE00CD}"/>
              </a:ext>
            </a:extLst>
          </p:cNvPr>
          <p:cNvSpPr>
            <a:spLocks noGrp="1"/>
          </p:cNvSpPr>
          <p:nvPr/>
        </p:nvSpPr>
        <p:spPr>
          <a:xfrm>
            <a:off x="6153150" y="2724150"/>
            <a:ext cx="2381250" cy="4000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filter records</a:t>
            </a:r>
          </a:p>
        </p:txBody>
      </p:sp>
      <p:sp>
        <p:nvSpPr>
          <p:cNvPr id="13" name="metric-2-body">
            <a:extLst>
              <a:ext uri="{FF2B5EF4-FFF2-40B4-BE49-F238E27FC236}">
                <a16:creationId xmlns:a16="http://schemas.microsoft.com/office/drawing/2014/main" id="{67326033-CE08-4376-8E14-28D00D10F7D9}"/>
              </a:ext>
            </a:extLst>
          </p:cNvPr>
          <p:cNvSpPr>
            <a:spLocks noGrp="1"/>
          </p:cNvSpPr>
          <p:nvPr/>
        </p:nvSpPr>
        <p:spPr>
          <a:xfrm>
            <a:off x="6153150" y="3333750"/>
            <a:ext cx="2381250" cy="133350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Inline filters, saved references, and standalone definitions</a:t>
            </a:r>
          </a:p>
        </p:txBody>
      </p:sp>
      <p:sp>
        <p:nvSpPr>
          <p:cNvPr id="14" name="rule-924-170">
            <a:extLst>
              <a:ext uri="{FF2B5EF4-FFF2-40B4-BE49-F238E27FC236}">
                <a16:creationId xmlns:a16="http://schemas.microsoft.com/office/drawing/2014/main" id="{FE793733-B102-4F70-9CD8-EDF2EFBC4107}"/>
              </a:ext>
            </a:extLst>
          </p:cNvPr>
          <p:cNvSpPr>
            <a:spLocks noGrp="1"/>
          </p:cNvSpPr>
          <p:nvPr/>
        </p:nvSpPr>
        <p:spPr>
          <a:xfrm>
            <a:off x="8801100" y="1619250"/>
            <a:ext cx="19050" cy="3429000"/>
          </a:xfrm>
          <a:prstGeom prst="rect">
            <a:avLst/>
          </a:prstGeom>
          <a:solidFill>
            <a:srgbClr val="B8BCC4"/>
          </a:solidFill>
          <a:ln w="0">
            <a:noFill/>
            <a:prstDash val="solid"/>
          </a:ln>
        </p:spPr>
        <p:txBody>
          <a:bodyPr/>
          <a:lstStyle/>
          <a:p>
            <a:endParaRPr lang="en-US"/>
          </a:p>
        </p:txBody>
      </p:sp>
      <p:sp>
        <p:nvSpPr>
          <p:cNvPr id="15" name="metric-3-value">
            <a:extLst>
              <a:ext uri="{FF2B5EF4-FFF2-40B4-BE49-F238E27FC236}">
                <a16:creationId xmlns:a16="http://schemas.microsoft.com/office/drawing/2014/main" id="{824F2D90-175A-42EE-97A1-DCB004C13BDC}"/>
              </a:ext>
            </a:extLst>
          </p:cNvPr>
          <p:cNvSpPr>
            <a:spLocks noGrp="1"/>
          </p:cNvSpPr>
          <p:nvPr/>
        </p:nvSpPr>
        <p:spPr>
          <a:xfrm>
            <a:off x="9029700" y="1714500"/>
            <a:ext cx="2381250" cy="952500"/>
          </a:xfrm>
          <a:prstGeom prst="rect">
            <a:avLst/>
          </a:prstGeom>
          <a:noFill/>
          <a:ln w="0">
            <a:noFill/>
            <a:prstDash val="solid"/>
          </a:ln>
        </p:spPr>
        <p:txBody>
          <a:bodyPr anchor="t"/>
          <a:lstStyle/>
          <a:p>
            <a:pPr>
              <a:defRPr sz="5400" b="1">
                <a:solidFill>
                  <a:srgbClr val="3D8DFF"/>
                </a:solidFill>
                <a:latin typeface="Helvetica Neue"/>
                <a:ea typeface="Helvetica Neue"/>
                <a:cs typeface="Helvetica Neue"/>
              </a:defRPr>
            </a:pPr>
            <a:r>
              <a:rPr sz="5400" b="1">
                <a:solidFill>
                  <a:srgbClr val="3D8DFF"/>
                </a:solidFill>
                <a:latin typeface="Helvetica Neue"/>
                <a:ea typeface="Helvetica Neue"/>
                <a:cs typeface="Helvetica Neue"/>
              </a:rPr>
              <a:t>450</a:t>
            </a:r>
          </a:p>
        </p:txBody>
      </p:sp>
      <p:sp>
        <p:nvSpPr>
          <p:cNvPr id="16" name="metric-3-label">
            <a:extLst>
              <a:ext uri="{FF2B5EF4-FFF2-40B4-BE49-F238E27FC236}">
                <a16:creationId xmlns:a16="http://schemas.microsoft.com/office/drawing/2014/main" id="{909015EE-AE95-4541-B97E-8788AB496495}"/>
              </a:ext>
            </a:extLst>
          </p:cNvPr>
          <p:cNvSpPr>
            <a:spLocks noGrp="1"/>
          </p:cNvSpPr>
          <p:nvPr/>
        </p:nvSpPr>
        <p:spPr>
          <a:xfrm>
            <a:off x="9029700" y="2724150"/>
            <a:ext cx="2381250" cy="4000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dependencies</a:t>
            </a:r>
          </a:p>
        </p:txBody>
      </p:sp>
      <p:sp>
        <p:nvSpPr>
          <p:cNvPr id="17" name="metric-3-body">
            <a:extLst>
              <a:ext uri="{FF2B5EF4-FFF2-40B4-BE49-F238E27FC236}">
                <a16:creationId xmlns:a16="http://schemas.microsoft.com/office/drawing/2014/main" id="{31F3DDD4-5ABF-4672-9DE2-E8DB25F46738}"/>
              </a:ext>
            </a:extLst>
          </p:cNvPr>
          <p:cNvSpPr>
            <a:spLocks noGrp="1"/>
          </p:cNvSpPr>
          <p:nvPr/>
        </p:nvSpPr>
        <p:spPr>
          <a:xfrm>
            <a:off x="9029700" y="3333750"/>
            <a:ext cx="2381250" cy="133350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dirty="0">
                <a:solidFill>
                  <a:srgbClr val="565C65"/>
                </a:solidFill>
                <a:latin typeface="Helvetica Neue"/>
                <a:ea typeface="Helvetica Neue"/>
                <a:cs typeface="Helvetica Neue"/>
              </a:rPr>
              <a:t>Distinct report-to-saved-column or saved-filter paths</a:t>
            </a:r>
          </a:p>
        </p:txBody>
      </p:sp>
      <p:sp>
        <p:nvSpPr>
          <p:cNvPr id="18" name="large-list-band">
            <a:extLst>
              <a:ext uri="{FF2B5EF4-FFF2-40B4-BE49-F238E27FC236}">
                <a16:creationId xmlns:a16="http://schemas.microsoft.com/office/drawing/2014/main" id="{A69F58BB-3F14-4999-B0A7-79787BF2BE75}"/>
              </a:ext>
            </a:extLst>
          </p:cNvPr>
          <p:cNvSpPr>
            <a:spLocks noGrp="1"/>
          </p:cNvSpPr>
          <p:nvPr/>
        </p:nvSpPr>
        <p:spPr>
          <a:xfrm>
            <a:off x="400050" y="5314950"/>
            <a:ext cx="11391900" cy="723900"/>
          </a:xfrm>
          <a:prstGeom prst="rect">
            <a:avLst/>
          </a:prstGeom>
          <a:solidFill>
            <a:srgbClr val="D0EDFA"/>
          </a:solidFill>
          <a:ln w="0">
            <a:noFill/>
            <a:prstDash val="solid"/>
          </a:ln>
        </p:spPr>
        <p:txBody>
          <a:bodyPr/>
          <a:lstStyle/>
          <a:p>
            <a:endParaRPr lang="en-US"/>
          </a:p>
        </p:txBody>
      </p:sp>
      <p:sp>
        <p:nvSpPr>
          <p:cNvPr id="19" name="large-list-value">
            <a:extLst>
              <a:ext uri="{FF2B5EF4-FFF2-40B4-BE49-F238E27FC236}">
                <a16:creationId xmlns:a16="http://schemas.microsoft.com/office/drawing/2014/main" id="{D376EC89-B8E1-46B8-A7F0-30BCADB26BE2}"/>
              </a:ext>
            </a:extLst>
          </p:cNvPr>
          <p:cNvSpPr>
            <a:spLocks noGrp="1"/>
          </p:cNvSpPr>
          <p:nvPr/>
        </p:nvSpPr>
        <p:spPr>
          <a:xfrm>
            <a:off x="628650" y="5429250"/>
            <a:ext cx="1809750" cy="457200"/>
          </a:xfrm>
          <a:prstGeom prst="rect">
            <a:avLst/>
          </a:prstGeom>
          <a:noFill/>
          <a:ln w="0">
            <a:noFill/>
            <a:prstDash val="solid"/>
          </a:ln>
        </p:spPr>
        <p:txBody>
          <a:bodyPr anchor="t"/>
          <a:lstStyle/>
          <a:p>
            <a:pPr>
              <a:defRPr sz="2850" b="1">
                <a:solidFill>
                  <a:srgbClr val="3D8DFF"/>
                </a:solidFill>
                <a:latin typeface="Helvetica Neue"/>
                <a:ea typeface="Helvetica Neue"/>
                <a:cs typeface="Helvetica Neue"/>
              </a:defRPr>
            </a:pPr>
            <a:r>
              <a:rPr sz="2850" b="1">
                <a:solidFill>
                  <a:srgbClr val="3D8DFF"/>
                </a:solidFill>
                <a:latin typeface="Helvetica Neue"/>
                <a:ea typeface="Helvetica Neue"/>
                <a:cs typeface="Helvetica Neue"/>
              </a:rPr>
              <a:t>150,880</a:t>
            </a:r>
          </a:p>
        </p:txBody>
      </p:sp>
      <p:sp>
        <p:nvSpPr>
          <p:cNvPr id="20" name="large-list-caption">
            <a:extLst>
              <a:ext uri="{FF2B5EF4-FFF2-40B4-BE49-F238E27FC236}">
                <a16:creationId xmlns:a16="http://schemas.microsoft.com/office/drawing/2014/main" id="{14850C8F-7E1D-4D13-9653-E90E90CC5FDF}"/>
              </a:ext>
            </a:extLst>
          </p:cNvPr>
          <p:cNvSpPr>
            <a:spLocks noGrp="1"/>
          </p:cNvSpPr>
          <p:nvPr/>
        </p:nvSpPr>
        <p:spPr>
          <a:xfrm>
            <a:off x="2571750" y="5505450"/>
            <a:ext cx="8096250" cy="361950"/>
          </a:xfrm>
          <a:prstGeom prst="rect">
            <a:avLst/>
          </a:prstGeom>
          <a:noFill/>
          <a:ln w="0">
            <a:noFill/>
            <a:prstDash val="solid"/>
          </a:ln>
        </p:spPr>
        <p:txBody>
          <a:bodyPr anchor="t"/>
          <a:lstStyle/>
          <a:p>
            <a:pP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individual values extracted from long IN and NOT IN filter lists</a:t>
            </a:r>
          </a:p>
        </p:txBody>
      </p:sp>
    </p:spTree>
    <p:extLst>
      <p:ext uri="{BB962C8B-B14F-4D97-AF65-F5344CB8AC3E}">
        <p14:creationId xmlns:p14="http://schemas.microsoft.com/office/powerpoint/2010/main" val="1120630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5-title">
            <a:extLst>
              <a:ext uri="{FF2B5EF4-FFF2-40B4-BE49-F238E27FC236}">
                <a16:creationId xmlns:a16="http://schemas.microsoft.com/office/drawing/2014/main" id="{35B606C1-7969-4EF8-89B6-D74CC8715352}"/>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200" b="1" dirty="0">
                <a:solidFill>
                  <a:srgbClr val="111111"/>
                </a:solidFill>
                <a:latin typeface="Helvetica Neue"/>
                <a:ea typeface="Helvetica Neue"/>
                <a:cs typeface="Helvetica Neue"/>
              </a:rPr>
              <a:t>Connecting Campus Reports to Analytics Objects</a:t>
            </a:r>
            <a:endParaRPr sz="3200" b="1" dirty="0">
              <a:solidFill>
                <a:srgbClr val="111111"/>
              </a:solidFill>
              <a:latin typeface="Helvetica Neue"/>
              <a:ea typeface="Helvetica Neue"/>
              <a:cs typeface="Helvetica Neue"/>
            </a:endParaRPr>
          </a:p>
        </p:txBody>
      </p:sp>
      <p:sp>
        <p:nvSpPr>
          <p:cNvPr id="2" name="slide-5-number">
            <a:extLst>
              <a:ext uri="{FF2B5EF4-FFF2-40B4-BE49-F238E27FC236}">
                <a16:creationId xmlns:a16="http://schemas.microsoft.com/office/drawing/2014/main" id="{FA93DCD8-BD50-4F7D-B4A0-3DEA193060FF}"/>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05</a:t>
            </a:r>
          </a:p>
        </p:txBody>
      </p:sp>
      <p:sp>
        <p:nvSpPr>
          <p:cNvPr id="3" name="references-lead">
            <a:extLst>
              <a:ext uri="{FF2B5EF4-FFF2-40B4-BE49-F238E27FC236}">
                <a16:creationId xmlns:a16="http://schemas.microsoft.com/office/drawing/2014/main" id="{9AE69FCE-E0F7-4033-A93E-EC275828CD36}"/>
              </a:ext>
            </a:extLst>
          </p:cNvPr>
          <p:cNvSpPr>
            <a:spLocks noGrp="1"/>
          </p:cNvSpPr>
          <p:nvPr/>
        </p:nvSpPr>
        <p:spPr>
          <a:xfrm>
            <a:off x="400050" y="1619250"/>
            <a:ext cx="5715000" cy="1809750"/>
          </a:xfrm>
          <a:prstGeom prst="rect">
            <a:avLst/>
          </a:prstGeom>
          <a:noFill/>
          <a:ln w="0">
            <a:noFill/>
            <a:prstDash val="solid"/>
          </a:ln>
        </p:spPr>
        <p:txBody>
          <a:bodyPr anchor="t"/>
          <a:lstStyle/>
          <a:p>
            <a:r>
              <a:rPr lang="en-US" dirty="0"/>
              <a:t>In the UC Libraries reporting environment, the </a:t>
            </a:r>
            <a:r>
              <a:rPr lang="en-US" b="1" dirty="0"/>
              <a:t>name people used for a report did not always match the name of the Alma Analytics object behind it</a:t>
            </a:r>
            <a:r>
              <a:rPr lang="en-US" dirty="0"/>
              <a:t>. A report might be known by a familiar operational or local name, while its underlying Analytics object had a different title or lived under a different name in the shared catalog.</a:t>
            </a:r>
          </a:p>
        </p:txBody>
      </p:sp>
      <p:sp>
        <p:nvSpPr>
          <p:cNvPr id="5" name="reference-dot-438">
            <a:extLst>
              <a:ext uri="{FF2B5EF4-FFF2-40B4-BE49-F238E27FC236}">
                <a16:creationId xmlns:a16="http://schemas.microsoft.com/office/drawing/2014/main" id="{31A35347-A184-4160-9401-E3436041B6E5}"/>
              </a:ext>
            </a:extLst>
          </p:cNvPr>
          <p:cNvSpPr>
            <a:spLocks noGrp="1"/>
          </p:cNvSpPr>
          <p:nvPr/>
        </p:nvSpPr>
        <p:spPr>
          <a:xfrm>
            <a:off x="400050" y="4238625"/>
            <a:ext cx="114300" cy="114300"/>
          </a:xfrm>
          <a:prstGeom prst="rect">
            <a:avLst/>
          </a:prstGeom>
          <a:solidFill>
            <a:srgbClr val="3D8DFF"/>
          </a:solidFill>
          <a:ln w="0">
            <a:noFill/>
            <a:prstDash val="solid"/>
          </a:ln>
        </p:spPr>
        <p:txBody>
          <a:bodyPr/>
          <a:lstStyle/>
          <a:p>
            <a:endParaRPr lang="en-US"/>
          </a:p>
        </p:txBody>
      </p:sp>
      <p:sp>
        <p:nvSpPr>
          <p:cNvPr id="6" name="reference-head-438">
            <a:extLst>
              <a:ext uri="{FF2B5EF4-FFF2-40B4-BE49-F238E27FC236}">
                <a16:creationId xmlns:a16="http://schemas.microsoft.com/office/drawing/2014/main" id="{E7DAF69E-2604-4628-A716-8D6275DF1C16}"/>
              </a:ext>
            </a:extLst>
          </p:cNvPr>
          <p:cNvSpPr>
            <a:spLocks noGrp="1"/>
          </p:cNvSpPr>
          <p:nvPr/>
        </p:nvSpPr>
        <p:spPr>
          <a:xfrm>
            <a:off x="685800" y="4171950"/>
            <a:ext cx="1952625" cy="304800"/>
          </a:xfrm>
          <a:prstGeom prst="rect">
            <a:avLst/>
          </a:prstGeom>
          <a:noFill/>
          <a:ln w="0">
            <a:noFill/>
            <a:prstDash val="solid"/>
          </a:ln>
        </p:spPr>
        <p:txBody>
          <a:bodyPr anchor="t"/>
          <a:lstStyle/>
          <a:p>
            <a:pPr>
              <a:defRPr sz="1650" b="1">
                <a:solidFill>
                  <a:srgbClr val="111111"/>
                </a:solidFill>
                <a:latin typeface="Helvetica Neue"/>
                <a:ea typeface="Helvetica Neue"/>
                <a:cs typeface="Helvetica Neue"/>
              </a:defRPr>
            </a:pPr>
            <a:r>
              <a:rPr sz="1650" b="1" dirty="0">
                <a:solidFill>
                  <a:srgbClr val="111111"/>
                </a:solidFill>
                <a:latin typeface="Helvetica Neue"/>
                <a:ea typeface="Helvetica Neue"/>
                <a:cs typeface="Helvetica Neue"/>
              </a:rPr>
              <a:t>Inline logic</a:t>
            </a:r>
          </a:p>
        </p:txBody>
      </p:sp>
      <p:sp>
        <p:nvSpPr>
          <p:cNvPr id="7" name="reference-body-438">
            <a:extLst>
              <a:ext uri="{FF2B5EF4-FFF2-40B4-BE49-F238E27FC236}">
                <a16:creationId xmlns:a16="http://schemas.microsoft.com/office/drawing/2014/main" id="{B1C2F9FA-98C0-4DBE-BDF4-8BB3B5E75AA8}"/>
              </a:ext>
            </a:extLst>
          </p:cNvPr>
          <p:cNvSpPr>
            <a:spLocks noGrp="1"/>
          </p:cNvSpPr>
          <p:nvPr/>
        </p:nvSpPr>
        <p:spPr>
          <a:xfrm>
            <a:off x="2628900" y="4171950"/>
            <a:ext cx="3143250" cy="36195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dirty="0">
                <a:solidFill>
                  <a:srgbClr val="565C65"/>
                </a:solidFill>
                <a:latin typeface="Helvetica Neue"/>
                <a:ea typeface="Helvetica Neue"/>
                <a:cs typeface="Helvetica Neue"/>
              </a:rPr>
              <a:t>stays attached to its </a:t>
            </a:r>
            <a:r>
              <a:rPr lang="en-US" sz="1500" dirty="0">
                <a:solidFill>
                  <a:srgbClr val="565C65"/>
                </a:solidFill>
                <a:latin typeface="Helvetica Neue"/>
                <a:ea typeface="Helvetica Neue"/>
                <a:cs typeface="Helvetica Neue"/>
              </a:rPr>
              <a:t>ALMA Analytics </a:t>
            </a:r>
            <a:r>
              <a:rPr sz="1500" dirty="0">
                <a:solidFill>
                  <a:srgbClr val="565C65"/>
                </a:solidFill>
                <a:latin typeface="Helvetica Neue"/>
                <a:ea typeface="Helvetica Neue"/>
                <a:cs typeface="Helvetica Neue"/>
              </a:rPr>
              <a:t>report</a:t>
            </a:r>
          </a:p>
        </p:txBody>
      </p:sp>
      <p:sp>
        <p:nvSpPr>
          <p:cNvPr id="8" name="reference-dot-496">
            <a:extLst>
              <a:ext uri="{FF2B5EF4-FFF2-40B4-BE49-F238E27FC236}">
                <a16:creationId xmlns:a16="http://schemas.microsoft.com/office/drawing/2014/main" id="{F8875804-644F-46B7-87E4-C776C3522F74}"/>
              </a:ext>
            </a:extLst>
          </p:cNvPr>
          <p:cNvSpPr>
            <a:spLocks noGrp="1"/>
          </p:cNvSpPr>
          <p:nvPr/>
        </p:nvSpPr>
        <p:spPr>
          <a:xfrm>
            <a:off x="400050" y="4791075"/>
            <a:ext cx="114300" cy="114300"/>
          </a:xfrm>
          <a:prstGeom prst="rect">
            <a:avLst/>
          </a:prstGeom>
          <a:solidFill>
            <a:srgbClr val="3D8DFF"/>
          </a:solidFill>
          <a:ln w="0">
            <a:noFill/>
            <a:prstDash val="solid"/>
          </a:ln>
        </p:spPr>
        <p:txBody>
          <a:bodyPr/>
          <a:lstStyle/>
          <a:p>
            <a:endParaRPr lang="en-US"/>
          </a:p>
        </p:txBody>
      </p:sp>
      <p:sp>
        <p:nvSpPr>
          <p:cNvPr id="9" name="reference-head-496">
            <a:extLst>
              <a:ext uri="{FF2B5EF4-FFF2-40B4-BE49-F238E27FC236}">
                <a16:creationId xmlns:a16="http://schemas.microsoft.com/office/drawing/2014/main" id="{A4DE9F20-C164-47B1-B76C-C8857CB61525}"/>
              </a:ext>
            </a:extLst>
          </p:cNvPr>
          <p:cNvSpPr>
            <a:spLocks noGrp="1"/>
          </p:cNvSpPr>
          <p:nvPr/>
        </p:nvSpPr>
        <p:spPr>
          <a:xfrm>
            <a:off x="685800" y="4724400"/>
            <a:ext cx="1952625" cy="304800"/>
          </a:xfrm>
          <a:prstGeom prst="rect">
            <a:avLst/>
          </a:prstGeom>
          <a:noFill/>
          <a:ln w="0">
            <a:noFill/>
            <a:prstDash val="solid"/>
          </a:ln>
        </p:spPr>
        <p:txBody>
          <a:bodyPr anchor="t"/>
          <a:lstStyle/>
          <a:p>
            <a:pPr>
              <a:defRPr sz="1650" b="1">
                <a:solidFill>
                  <a:srgbClr val="111111"/>
                </a:solidFill>
                <a:latin typeface="Helvetica Neue"/>
                <a:ea typeface="Helvetica Neue"/>
                <a:cs typeface="Helvetica Neue"/>
              </a:defRPr>
            </a:pPr>
            <a:r>
              <a:rPr sz="1650" b="1" dirty="0">
                <a:solidFill>
                  <a:srgbClr val="111111"/>
                </a:solidFill>
                <a:latin typeface="Helvetica Neue"/>
                <a:ea typeface="Helvetica Neue"/>
                <a:cs typeface="Helvetica Neue"/>
              </a:rPr>
              <a:t>Saved </a:t>
            </a:r>
            <a:r>
              <a:rPr lang="en-US" sz="1650" b="1" dirty="0">
                <a:solidFill>
                  <a:srgbClr val="111111"/>
                </a:solidFill>
                <a:latin typeface="Helvetica Neue"/>
                <a:ea typeface="Helvetica Neue"/>
                <a:cs typeface="Helvetica Neue"/>
              </a:rPr>
              <a:t>columns/ filters</a:t>
            </a:r>
            <a:endParaRPr sz="1650" b="1" dirty="0">
              <a:solidFill>
                <a:srgbClr val="111111"/>
              </a:solidFill>
              <a:latin typeface="Helvetica Neue"/>
              <a:ea typeface="Helvetica Neue"/>
              <a:cs typeface="Helvetica Neue"/>
            </a:endParaRPr>
          </a:p>
        </p:txBody>
      </p:sp>
      <p:sp>
        <p:nvSpPr>
          <p:cNvPr id="10" name="reference-body-496">
            <a:extLst>
              <a:ext uri="{FF2B5EF4-FFF2-40B4-BE49-F238E27FC236}">
                <a16:creationId xmlns:a16="http://schemas.microsoft.com/office/drawing/2014/main" id="{B21584AF-2089-4D41-A0DD-89FD4E63F77A}"/>
              </a:ext>
            </a:extLst>
          </p:cNvPr>
          <p:cNvSpPr>
            <a:spLocks noGrp="1"/>
          </p:cNvSpPr>
          <p:nvPr/>
        </p:nvSpPr>
        <p:spPr>
          <a:xfrm>
            <a:off x="2628900" y="4724400"/>
            <a:ext cx="3350986" cy="36195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dirty="0">
                <a:solidFill>
                  <a:srgbClr val="565C65"/>
                </a:solidFill>
                <a:latin typeface="Helvetica Neue"/>
                <a:ea typeface="Helvetica Neue"/>
                <a:cs typeface="Helvetica Neue"/>
              </a:rPr>
              <a:t>remain present even when unreferenced</a:t>
            </a:r>
            <a:r>
              <a:rPr lang="en-US" sz="1500" dirty="0">
                <a:solidFill>
                  <a:srgbClr val="565C65"/>
                </a:solidFill>
                <a:latin typeface="Helvetica Neue"/>
                <a:ea typeface="Helvetica Neue"/>
                <a:cs typeface="Helvetica Neue"/>
              </a:rPr>
              <a:t> in campus deliverables</a:t>
            </a:r>
            <a:endParaRPr sz="1500" dirty="0">
              <a:solidFill>
                <a:srgbClr val="565C65"/>
              </a:solidFill>
              <a:latin typeface="Helvetica Neue"/>
              <a:ea typeface="Helvetica Neue"/>
              <a:cs typeface="Helvetica Neue"/>
            </a:endParaRPr>
          </a:p>
        </p:txBody>
      </p:sp>
      <p:sp>
        <p:nvSpPr>
          <p:cNvPr id="11" name="reference-dot-554">
            <a:extLst>
              <a:ext uri="{FF2B5EF4-FFF2-40B4-BE49-F238E27FC236}">
                <a16:creationId xmlns:a16="http://schemas.microsoft.com/office/drawing/2014/main" id="{A126E93C-F0CF-45F9-B516-27D996E7B7E4}"/>
              </a:ext>
            </a:extLst>
          </p:cNvPr>
          <p:cNvSpPr>
            <a:spLocks noGrp="1"/>
          </p:cNvSpPr>
          <p:nvPr/>
        </p:nvSpPr>
        <p:spPr>
          <a:xfrm>
            <a:off x="400050" y="5343525"/>
            <a:ext cx="114300" cy="114300"/>
          </a:xfrm>
          <a:prstGeom prst="rect">
            <a:avLst/>
          </a:prstGeom>
          <a:solidFill>
            <a:srgbClr val="3D8DFF"/>
          </a:solidFill>
          <a:ln w="0">
            <a:noFill/>
            <a:prstDash val="solid"/>
          </a:ln>
        </p:spPr>
        <p:txBody>
          <a:bodyPr/>
          <a:lstStyle/>
          <a:p>
            <a:endParaRPr lang="en-US"/>
          </a:p>
        </p:txBody>
      </p:sp>
      <p:sp>
        <p:nvSpPr>
          <p:cNvPr id="12" name="reference-head-554">
            <a:extLst>
              <a:ext uri="{FF2B5EF4-FFF2-40B4-BE49-F238E27FC236}">
                <a16:creationId xmlns:a16="http://schemas.microsoft.com/office/drawing/2014/main" id="{AF000759-848B-413B-B8AB-0E109AAD320F}"/>
              </a:ext>
            </a:extLst>
          </p:cNvPr>
          <p:cNvSpPr>
            <a:spLocks noGrp="1"/>
          </p:cNvSpPr>
          <p:nvPr/>
        </p:nvSpPr>
        <p:spPr>
          <a:xfrm>
            <a:off x="685800" y="5276850"/>
            <a:ext cx="1952625" cy="304800"/>
          </a:xfrm>
          <a:prstGeom prst="rect">
            <a:avLst/>
          </a:prstGeom>
          <a:noFill/>
          <a:ln w="0">
            <a:noFill/>
            <a:prstDash val="solid"/>
          </a:ln>
        </p:spPr>
        <p:txBody>
          <a:bodyPr anchor="t"/>
          <a:lstStyle/>
          <a:p>
            <a:pPr>
              <a:defRPr sz="1650" b="1">
                <a:solidFill>
                  <a:srgbClr val="111111"/>
                </a:solidFill>
                <a:latin typeface="Helvetica Neue"/>
                <a:ea typeface="Helvetica Neue"/>
                <a:cs typeface="Helvetica Neue"/>
              </a:defRPr>
            </a:pPr>
            <a:r>
              <a:rPr sz="1650" b="1" dirty="0">
                <a:solidFill>
                  <a:srgbClr val="111111"/>
                </a:solidFill>
                <a:latin typeface="Helvetica Neue"/>
                <a:ea typeface="Helvetica Neue"/>
                <a:cs typeface="Helvetica Neue"/>
              </a:rPr>
              <a:t>Dependency rows</a:t>
            </a:r>
          </a:p>
        </p:txBody>
      </p:sp>
      <p:sp>
        <p:nvSpPr>
          <p:cNvPr id="13" name="reference-body-554">
            <a:extLst>
              <a:ext uri="{FF2B5EF4-FFF2-40B4-BE49-F238E27FC236}">
                <a16:creationId xmlns:a16="http://schemas.microsoft.com/office/drawing/2014/main" id="{702FD0FF-EB9A-4BC3-9E13-16ACDAE74583}"/>
              </a:ext>
            </a:extLst>
          </p:cNvPr>
          <p:cNvSpPr>
            <a:spLocks noGrp="1"/>
          </p:cNvSpPr>
          <p:nvPr/>
        </p:nvSpPr>
        <p:spPr>
          <a:xfrm>
            <a:off x="2628900" y="5276850"/>
            <a:ext cx="3143250" cy="68580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dirty="0">
                <a:solidFill>
                  <a:srgbClr val="565C65"/>
                </a:solidFill>
                <a:latin typeface="Helvetica Neue"/>
                <a:ea typeface="Helvetica Neue"/>
                <a:cs typeface="Helvetica Neue"/>
              </a:rPr>
              <a:t>record target path and </a:t>
            </a:r>
            <a:r>
              <a:rPr lang="en-US" sz="1500" dirty="0">
                <a:solidFill>
                  <a:srgbClr val="565C65"/>
                </a:solidFill>
                <a:latin typeface="Helvetica Neue"/>
                <a:ea typeface="Helvetica Neue"/>
                <a:cs typeface="Helvetica Neue"/>
              </a:rPr>
              <a:t>connection</a:t>
            </a:r>
            <a:r>
              <a:rPr sz="1500" dirty="0">
                <a:solidFill>
                  <a:srgbClr val="565C65"/>
                </a:solidFill>
                <a:latin typeface="Helvetica Neue"/>
                <a:ea typeface="Helvetica Neue"/>
                <a:cs typeface="Helvetica Neue"/>
              </a:rPr>
              <a:t> status</a:t>
            </a:r>
          </a:p>
        </p:txBody>
      </p:sp>
      <p:sp>
        <p:nvSpPr>
          <p:cNvPr id="14" name="relationship-backing">
            <a:extLst>
              <a:ext uri="{FF2B5EF4-FFF2-40B4-BE49-F238E27FC236}">
                <a16:creationId xmlns:a16="http://schemas.microsoft.com/office/drawing/2014/main" id="{0F11C850-0561-499A-AC76-B58A40C412FD}"/>
              </a:ext>
            </a:extLst>
          </p:cNvPr>
          <p:cNvSpPr>
            <a:spLocks noGrp="1"/>
          </p:cNvSpPr>
          <p:nvPr/>
        </p:nvSpPr>
        <p:spPr>
          <a:xfrm>
            <a:off x="6572250" y="1333500"/>
            <a:ext cx="5219700" cy="4762500"/>
          </a:xfrm>
          <a:prstGeom prst="rect">
            <a:avLst/>
          </a:prstGeom>
          <a:solidFill>
            <a:srgbClr val="FAFAFA"/>
          </a:solidFill>
          <a:ln w="9525">
            <a:solidFill>
              <a:srgbClr val="B8BCC4"/>
            </a:solidFill>
            <a:prstDash val="solid"/>
          </a:ln>
        </p:spPr>
        <p:txBody>
          <a:bodyPr/>
          <a:lstStyle/>
          <a:p>
            <a:endParaRPr lang="en-US"/>
          </a:p>
        </p:txBody>
      </p:sp>
      <p:pic>
        <p:nvPicPr>
          <p:cNvPr id="30" name="Picture 29"/>
          <p:cNvPicPr>
            <a:picLocks noChangeAspect="1"/>
          </p:cNvPicPr>
          <p:nvPr/>
        </p:nvPicPr>
        <p:blipFill>
          <a:blip r:embed="rId3"/>
          <a:stretch/>
        </p:blipFill>
        <p:spPr>
          <a:xfrm>
            <a:off x="7917656" y="1466850"/>
            <a:ext cx="2528888" cy="4495800"/>
          </a:xfrm>
          <a:prstGeom prst="rect">
            <a:avLst/>
          </a:prstGeom>
        </p:spPr>
      </p:pic>
    </p:spTree>
    <p:extLst>
      <p:ext uri="{BB962C8B-B14F-4D97-AF65-F5344CB8AC3E}">
        <p14:creationId xmlns:p14="http://schemas.microsoft.com/office/powerpoint/2010/main" val="856305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lide-6-title">
            <a:extLst>
              <a:ext uri="{FF2B5EF4-FFF2-40B4-BE49-F238E27FC236}">
                <a16:creationId xmlns:a16="http://schemas.microsoft.com/office/drawing/2014/main" id="{6A6F228C-7701-4EC3-A1C9-392AF6B643C7}"/>
              </a:ext>
            </a:extLst>
          </p:cNvPr>
          <p:cNvSpPr>
            <a:spLocks noGrp="1"/>
          </p:cNvSpPr>
          <p:nvPr/>
        </p:nvSpPr>
        <p:spPr>
          <a:xfrm>
            <a:off x="400050" y="304800"/>
            <a:ext cx="10953750" cy="762000"/>
          </a:xfrm>
          <a:prstGeom prst="rect">
            <a:avLst/>
          </a:prstGeom>
          <a:noFill/>
          <a:ln w="0">
            <a:noFill/>
            <a:prstDash val="solid"/>
          </a:ln>
        </p:spPr>
        <p:txBody>
          <a:bodyPr anchor="t"/>
          <a:lstStyle/>
          <a:p>
            <a:pPr>
              <a:defRPr sz="3750" b="1">
                <a:solidFill>
                  <a:srgbClr val="111111"/>
                </a:solidFill>
                <a:latin typeface="Helvetica Neue"/>
                <a:ea typeface="Helvetica Neue"/>
                <a:cs typeface="Helvetica Neue"/>
              </a:defRPr>
            </a:pPr>
            <a:r>
              <a:rPr lang="en-US" sz="3750" b="1" dirty="0">
                <a:solidFill>
                  <a:srgbClr val="111111"/>
                </a:solidFill>
                <a:latin typeface="Helvetica Neue"/>
                <a:ea typeface="Helvetica Neue"/>
                <a:cs typeface="Helvetica Neue"/>
              </a:rPr>
              <a:t>Parse-y Parses, then Humans Prepare</a:t>
            </a:r>
          </a:p>
        </p:txBody>
      </p:sp>
      <p:sp>
        <p:nvSpPr>
          <p:cNvPr id="2" name="slide-6-number">
            <a:extLst>
              <a:ext uri="{FF2B5EF4-FFF2-40B4-BE49-F238E27FC236}">
                <a16:creationId xmlns:a16="http://schemas.microsoft.com/office/drawing/2014/main" id="{7F3A546B-1893-442C-B345-9D4F7CC7760B}"/>
              </a:ext>
            </a:extLst>
          </p:cNvPr>
          <p:cNvSpPr>
            <a:spLocks noGrp="1"/>
          </p:cNvSpPr>
          <p:nvPr/>
        </p:nvSpPr>
        <p:spPr>
          <a:xfrm>
            <a:off x="11220450" y="6334125"/>
            <a:ext cx="590550" cy="209550"/>
          </a:xfrm>
          <a:prstGeom prst="rect">
            <a:avLst/>
          </a:prstGeom>
          <a:noFill/>
          <a:ln w="0">
            <a:noFill/>
            <a:prstDash val="solid"/>
          </a:ln>
        </p:spPr>
        <p:txBody>
          <a:bodyPr anchor="t"/>
          <a:lstStyle/>
          <a:p>
            <a:pPr algn="r">
              <a:defRPr sz="1050">
                <a:solidFill>
                  <a:srgbClr val="565C65"/>
                </a:solidFill>
                <a:latin typeface="Helvetica Neue"/>
                <a:ea typeface="Helvetica Neue"/>
                <a:cs typeface="Helvetica Neue"/>
              </a:defRPr>
            </a:pPr>
            <a:r>
              <a:rPr sz="1050">
                <a:solidFill>
                  <a:srgbClr val="565C65"/>
                </a:solidFill>
                <a:latin typeface="Helvetica Neue"/>
                <a:ea typeface="Helvetica Neue"/>
                <a:cs typeface="Helvetica Neue"/>
              </a:rPr>
              <a:t>06</a:t>
            </a:r>
          </a:p>
        </p:txBody>
      </p:sp>
      <p:sp>
        <p:nvSpPr>
          <p:cNvPr id="3" name="report-builder-backing">
            <a:extLst>
              <a:ext uri="{FF2B5EF4-FFF2-40B4-BE49-F238E27FC236}">
                <a16:creationId xmlns:a16="http://schemas.microsoft.com/office/drawing/2014/main" id="{24E24E92-A044-4E50-87E8-A3BB719186AA}"/>
              </a:ext>
            </a:extLst>
          </p:cNvPr>
          <p:cNvSpPr>
            <a:spLocks noGrp="1"/>
          </p:cNvSpPr>
          <p:nvPr/>
        </p:nvSpPr>
        <p:spPr>
          <a:xfrm>
            <a:off x="400050" y="1257300"/>
            <a:ext cx="11391900" cy="2781300"/>
          </a:xfrm>
          <a:prstGeom prst="rect">
            <a:avLst/>
          </a:prstGeom>
          <a:solidFill>
            <a:srgbClr val="FAFAFA"/>
          </a:solidFill>
          <a:ln w="9525">
            <a:solidFill>
              <a:srgbClr val="B8BCC4"/>
            </a:solidFill>
            <a:prstDash val="solid"/>
          </a:ln>
        </p:spPr>
        <p:txBody>
          <a:bodyPr/>
          <a:lstStyle/>
          <a:p>
            <a:endParaRPr lang="en-US"/>
          </a:p>
        </p:txBody>
      </p:sp>
      <p:pic>
        <p:nvPicPr>
          <p:cNvPr id="21" name="Picture 20"/>
          <p:cNvPicPr>
            <a:picLocks noChangeAspect="1"/>
          </p:cNvPicPr>
          <p:nvPr/>
        </p:nvPicPr>
        <p:blipFill>
          <a:blip r:embed="rId3"/>
          <a:stretch/>
        </p:blipFill>
        <p:spPr>
          <a:xfrm>
            <a:off x="4084320" y="1390650"/>
            <a:ext cx="4023360" cy="2514600"/>
          </a:xfrm>
          <a:prstGeom prst="rect">
            <a:avLst/>
          </a:prstGeom>
        </p:spPr>
      </p:pic>
      <p:sp>
        <p:nvSpPr>
          <p:cNvPr id="5" name="rule-72-520">
            <a:extLst>
              <a:ext uri="{FF2B5EF4-FFF2-40B4-BE49-F238E27FC236}">
                <a16:creationId xmlns:a16="http://schemas.microsoft.com/office/drawing/2014/main" id="{51F316A9-C676-4C59-9C45-723EE47BBFFE}"/>
              </a:ext>
            </a:extLst>
          </p:cNvPr>
          <p:cNvSpPr>
            <a:spLocks noGrp="1"/>
          </p:cNvSpPr>
          <p:nvPr/>
        </p:nvSpPr>
        <p:spPr>
          <a:xfrm>
            <a:off x="685800" y="4953000"/>
            <a:ext cx="10287000" cy="19050"/>
          </a:xfrm>
          <a:prstGeom prst="rect">
            <a:avLst/>
          </a:prstGeom>
          <a:solidFill>
            <a:srgbClr val="111111"/>
          </a:solidFill>
          <a:ln w="0">
            <a:noFill/>
            <a:prstDash val="solid"/>
          </a:ln>
        </p:spPr>
        <p:txBody>
          <a:bodyPr/>
          <a:lstStyle/>
          <a:p>
            <a:endParaRPr lang="en-US"/>
          </a:p>
        </p:txBody>
      </p:sp>
      <p:sp>
        <p:nvSpPr>
          <p:cNvPr id="6" name="step-01-node">
            <a:extLst>
              <a:ext uri="{FF2B5EF4-FFF2-40B4-BE49-F238E27FC236}">
                <a16:creationId xmlns:a16="http://schemas.microsoft.com/office/drawing/2014/main" id="{8C112494-6FB2-4103-9638-8C37CD244736}"/>
              </a:ext>
            </a:extLst>
          </p:cNvPr>
          <p:cNvSpPr>
            <a:spLocks noGrp="1"/>
          </p:cNvSpPr>
          <p:nvPr/>
        </p:nvSpPr>
        <p:spPr>
          <a:xfrm>
            <a:off x="876300" y="4857750"/>
            <a:ext cx="209550" cy="209550"/>
          </a:xfrm>
          <a:prstGeom prst="ellipse">
            <a:avLst/>
          </a:prstGeom>
          <a:solidFill>
            <a:srgbClr val="111111"/>
          </a:solidFill>
          <a:ln w="0">
            <a:noFill/>
            <a:prstDash val="solid"/>
          </a:ln>
        </p:spPr>
        <p:txBody>
          <a:bodyPr/>
          <a:lstStyle/>
          <a:p>
            <a:endParaRPr lang="en-US"/>
          </a:p>
        </p:txBody>
      </p:sp>
      <p:sp>
        <p:nvSpPr>
          <p:cNvPr id="7" name="step-01-number">
            <a:extLst>
              <a:ext uri="{FF2B5EF4-FFF2-40B4-BE49-F238E27FC236}">
                <a16:creationId xmlns:a16="http://schemas.microsoft.com/office/drawing/2014/main" id="{3820E78F-D788-4BE8-BA31-730FCE0508CD}"/>
              </a:ext>
            </a:extLst>
          </p:cNvPr>
          <p:cNvSpPr>
            <a:spLocks noGrp="1"/>
          </p:cNvSpPr>
          <p:nvPr/>
        </p:nvSpPr>
        <p:spPr>
          <a:xfrm>
            <a:off x="876300" y="5257800"/>
            <a:ext cx="514350" cy="285750"/>
          </a:xfrm>
          <a:prstGeom prst="rect">
            <a:avLst/>
          </a:prstGeom>
          <a:noFill/>
          <a:ln w="0">
            <a:noFill/>
            <a:prstDash val="solid"/>
          </a:ln>
        </p:spPr>
        <p:txBody>
          <a:bodyPr anchor="t"/>
          <a:lstStyle/>
          <a:p>
            <a:pPr>
              <a:defRPr sz="1350" b="1">
                <a:solidFill>
                  <a:srgbClr val="565C65"/>
                </a:solidFill>
                <a:latin typeface="Helvetica Neue"/>
                <a:ea typeface="Helvetica Neue"/>
                <a:cs typeface="Helvetica Neue"/>
              </a:defRPr>
            </a:pPr>
            <a:r>
              <a:rPr sz="1350" b="1">
                <a:solidFill>
                  <a:srgbClr val="565C65"/>
                </a:solidFill>
                <a:latin typeface="Helvetica Neue"/>
                <a:ea typeface="Helvetica Neue"/>
                <a:cs typeface="Helvetica Neue"/>
              </a:rPr>
              <a:t>01</a:t>
            </a:r>
          </a:p>
        </p:txBody>
      </p:sp>
      <p:sp>
        <p:nvSpPr>
          <p:cNvPr id="8" name="step-01-head">
            <a:extLst>
              <a:ext uri="{FF2B5EF4-FFF2-40B4-BE49-F238E27FC236}">
                <a16:creationId xmlns:a16="http://schemas.microsoft.com/office/drawing/2014/main" id="{6C5C8CEC-CB0C-4B5B-9FE8-27DA5E7AA90C}"/>
              </a:ext>
            </a:extLst>
          </p:cNvPr>
          <p:cNvSpPr>
            <a:spLocks noGrp="1"/>
          </p:cNvSpPr>
          <p:nvPr/>
        </p:nvSpPr>
        <p:spPr>
          <a:xfrm>
            <a:off x="1409700" y="5200650"/>
            <a:ext cx="1809750" cy="3238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Automate</a:t>
            </a:r>
          </a:p>
        </p:txBody>
      </p:sp>
      <p:sp>
        <p:nvSpPr>
          <p:cNvPr id="9" name="step-01-body">
            <a:extLst>
              <a:ext uri="{FF2B5EF4-FFF2-40B4-BE49-F238E27FC236}">
                <a16:creationId xmlns:a16="http://schemas.microsoft.com/office/drawing/2014/main" id="{BDD13449-2017-4246-936C-AFE8A50416EA}"/>
              </a:ext>
            </a:extLst>
          </p:cNvPr>
          <p:cNvSpPr>
            <a:spLocks noGrp="1"/>
          </p:cNvSpPr>
          <p:nvPr/>
        </p:nvSpPr>
        <p:spPr>
          <a:xfrm>
            <a:off x="1409700" y="5619750"/>
            <a:ext cx="2571750" cy="590550"/>
          </a:xfrm>
          <a:prstGeom prst="rect">
            <a:avLst/>
          </a:prstGeom>
          <a:noFill/>
          <a:ln w="0">
            <a:noFill/>
            <a:prstDash val="solid"/>
          </a:ln>
        </p:spPr>
        <p:txBody>
          <a:bodyPr anchor="t"/>
          <a:lstStyle/>
          <a:p>
            <a:pPr>
              <a:defRPr sz="1425">
                <a:solidFill>
                  <a:srgbClr val="565C65"/>
                </a:solidFill>
                <a:latin typeface="Helvetica Neue"/>
                <a:ea typeface="Helvetica Neue"/>
                <a:cs typeface="Helvetica Neue"/>
              </a:defRPr>
            </a:pPr>
            <a:r>
              <a:rPr sz="1425" dirty="0">
                <a:solidFill>
                  <a:srgbClr val="565C65"/>
                </a:solidFill>
                <a:latin typeface="Helvetica Neue"/>
                <a:ea typeface="Helvetica Neue"/>
                <a:cs typeface="Helvetica Neue"/>
              </a:rPr>
              <a:t>Extract and normalize reusable evidence</a:t>
            </a:r>
          </a:p>
        </p:txBody>
      </p:sp>
      <p:sp>
        <p:nvSpPr>
          <p:cNvPr id="10" name="step-02-node">
            <a:extLst>
              <a:ext uri="{FF2B5EF4-FFF2-40B4-BE49-F238E27FC236}">
                <a16:creationId xmlns:a16="http://schemas.microsoft.com/office/drawing/2014/main" id="{D26C3E38-D47B-4E74-9423-C57968AEE082}"/>
              </a:ext>
            </a:extLst>
          </p:cNvPr>
          <p:cNvSpPr>
            <a:spLocks noGrp="1"/>
          </p:cNvSpPr>
          <p:nvPr/>
        </p:nvSpPr>
        <p:spPr>
          <a:xfrm>
            <a:off x="4476750" y="4857750"/>
            <a:ext cx="209550" cy="209550"/>
          </a:xfrm>
          <a:prstGeom prst="ellipse">
            <a:avLst/>
          </a:prstGeom>
          <a:solidFill>
            <a:srgbClr val="3D8DFF"/>
          </a:solidFill>
          <a:ln w="0">
            <a:noFill/>
            <a:prstDash val="solid"/>
          </a:ln>
        </p:spPr>
        <p:txBody>
          <a:bodyPr/>
          <a:lstStyle/>
          <a:p>
            <a:endParaRPr lang="en-US"/>
          </a:p>
        </p:txBody>
      </p:sp>
      <p:sp>
        <p:nvSpPr>
          <p:cNvPr id="11" name="step-02-number">
            <a:extLst>
              <a:ext uri="{FF2B5EF4-FFF2-40B4-BE49-F238E27FC236}">
                <a16:creationId xmlns:a16="http://schemas.microsoft.com/office/drawing/2014/main" id="{78A10FB8-7DB4-49F8-8314-9247C28358A8}"/>
              </a:ext>
            </a:extLst>
          </p:cNvPr>
          <p:cNvSpPr>
            <a:spLocks noGrp="1"/>
          </p:cNvSpPr>
          <p:nvPr/>
        </p:nvSpPr>
        <p:spPr>
          <a:xfrm>
            <a:off x="4476750" y="5257800"/>
            <a:ext cx="514350" cy="285750"/>
          </a:xfrm>
          <a:prstGeom prst="rect">
            <a:avLst/>
          </a:prstGeom>
          <a:noFill/>
          <a:ln w="0">
            <a:noFill/>
            <a:prstDash val="solid"/>
          </a:ln>
        </p:spPr>
        <p:txBody>
          <a:bodyPr anchor="t"/>
          <a:lstStyle/>
          <a:p>
            <a:pPr>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02</a:t>
            </a:r>
          </a:p>
        </p:txBody>
      </p:sp>
      <p:sp>
        <p:nvSpPr>
          <p:cNvPr id="12" name="step-02-head">
            <a:extLst>
              <a:ext uri="{FF2B5EF4-FFF2-40B4-BE49-F238E27FC236}">
                <a16:creationId xmlns:a16="http://schemas.microsoft.com/office/drawing/2014/main" id="{9A64FE64-1555-4861-A5D0-3AA7806AE0CC}"/>
              </a:ext>
            </a:extLst>
          </p:cNvPr>
          <p:cNvSpPr>
            <a:spLocks noGrp="1"/>
          </p:cNvSpPr>
          <p:nvPr/>
        </p:nvSpPr>
        <p:spPr>
          <a:xfrm>
            <a:off x="5010150" y="5200650"/>
            <a:ext cx="1809750" cy="3238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Review</a:t>
            </a:r>
          </a:p>
        </p:txBody>
      </p:sp>
      <p:sp>
        <p:nvSpPr>
          <p:cNvPr id="13" name="step-02-body">
            <a:extLst>
              <a:ext uri="{FF2B5EF4-FFF2-40B4-BE49-F238E27FC236}">
                <a16:creationId xmlns:a16="http://schemas.microsoft.com/office/drawing/2014/main" id="{951879E1-66AE-4680-B83E-2A6CB39942C5}"/>
              </a:ext>
            </a:extLst>
          </p:cNvPr>
          <p:cNvSpPr>
            <a:spLocks noGrp="1"/>
          </p:cNvSpPr>
          <p:nvPr/>
        </p:nvSpPr>
        <p:spPr>
          <a:xfrm>
            <a:off x="5010150" y="5619750"/>
            <a:ext cx="2571750" cy="590550"/>
          </a:xfrm>
          <a:prstGeom prst="rect">
            <a:avLst/>
          </a:prstGeom>
          <a:noFill/>
          <a:ln w="0">
            <a:noFill/>
            <a:prstDash val="solid"/>
          </a:ln>
        </p:spPr>
        <p:txBody>
          <a:bodyPr anchor="t"/>
          <a:lstStyle/>
          <a:p>
            <a:pPr>
              <a:defRPr sz="1425">
                <a:solidFill>
                  <a:srgbClr val="565C65"/>
                </a:solidFill>
                <a:latin typeface="Helvetica Neue"/>
                <a:ea typeface="Helvetica Neue"/>
                <a:cs typeface="Helvetica Neue"/>
              </a:defRPr>
            </a:pPr>
            <a:r>
              <a:rPr sz="1425" dirty="0">
                <a:solidFill>
                  <a:srgbClr val="565C65"/>
                </a:solidFill>
                <a:latin typeface="Helvetica Neue"/>
                <a:ea typeface="Helvetica Neue"/>
                <a:cs typeface="Helvetica Neue"/>
              </a:rPr>
              <a:t>Add campus scope, labels, and explanations</a:t>
            </a:r>
          </a:p>
        </p:txBody>
      </p:sp>
      <p:sp>
        <p:nvSpPr>
          <p:cNvPr id="14" name="step-03-node">
            <a:extLst>
              <a:ext uri="{FF2B5EF4-FFF2-40B4-BE49-F238E27FC236}">
                <a16:creationId xmlns:a16="http://schemas.microsoft.com/office/drawing/2014/main" id="{40FB205D-9B49-49A5-9B88-EC873B225FCC}"/>
              </a:ext>
            </a:extLst>
          </p:cNvPr>
          <p:cNvSpPr>
            <a:spLocks noGrp="1"/>
          </p:cNvSpPr>
          <p:nvPr/>
        </p:nvSpPr>
        <p:spPr>
          <a:xfrm>
            <a:off x="8077200" y="4857750"/>
            <a:ext cx="209550" cy="209550"/>
          </a:xfrm>
          <a:prstGeom prst="ellipse">
            <a:avLst/>
          </a:prstGeom>
          <a:solidFill>
            <a:srgbClr val="111111"/>
          </a:solidFill>
          <a:ln w="0">
            <a:noFill/>
            <a:prstDash val="solid"/>
          </a:ln>
        </p:spPr>
        <p:txBody>
          <a:bodyPr/>
          <a:lstStyle/>
          <a:p>
            <a:endParaRPr lang="en-US"/>
          </a:p>
        </p:txBody>
      </p:sp>
      <p:sp>
        <p:nvSpPr>
          <p:cNvPr id="15" name="step-03-number">
            <a:extLst>
              <a:ext uri="{FF2B5EF4-FFF2-40B4-BE49-F238E27FC236}">
                <a16:creationId xmlns:a16="http://schemas.microsoft.com/office/drawing/2014/main" id="{85144C01-4A66-42E8-A51C-B8EA25BCCAF5}"/>
              </a:ext>
            </a:extLst>
          </p:cNvPr>
          <p:cNvSpPr>
            <a:spLocks noGrp="1"/>
          </p:cNvSpPr>
          <p:nvPr/>
        </p:nvSpPr>
        <p:spPr>
          <a:xfrm>
            <a:off x="8077200" y="5257800"/>
            <a:ext cx="514350" cy="285750"/>
          </a:xfrm>
          <a:prstGeom prst="rect">
            <a:avLst/>
          </a:prstGeom>
          <a:noFill/>
          <a:ln w="0">
            <a:noFill/>
            <a:prstDash val="solid"/>
          </a:ln>
        </p:spPr>
        <p:txBody>
          <a:bodyPr anchor="t"/>
          <a:lstStyle/>
          <a:p>
            <a:pPr>
              <a:defRPr sz="1350" b="1">
                <a:solidFill>
                  <a:srgbClr val="565C65"/>
                </a:solidFill>
                <a:latin typeface="Helvetica Neue"/>
                <a:ea typeface="Helvetica Neue"/>
                <a:cs typeface="Helvetica Neue"/>
              </a:defRPr>
            </a:pPr>
            <a:r>
              <a:rPr sz="1350" b="1">
                <a:solidFill>
                  <a:srgbClr val="565C65"/>
                </a:solidFill>
                <a:latin typeface="Helvetica Neue"/>
                <a:ea typeface="Helvetica Neue"/>
                <a:cs typeface="Helvetica Neue"/>
              </a:rPr>
              <a:t>03</a:t>
            </a:r>
          </a:p>
        </p:txBody>
      </p:sp>
      <p:sp>
        <p:nvSpPr>
          <p:cNvPr id="16" name="step-03-head">
            <a:extLst>
              <a:ext uri="{FF2B5EF4-FFF2-40B4-BE49-F238E27FC236}">
                <a16:creationId xmlns:a16="http://schemas.microsoft.com/office/drawing/2014/main" id="{FA67FA11-E0E3-4448-AD28-2ACE5A4CEFCF}"/>
              </a:ext>
            </a:extLst>
          </p:cNvPr>
          <p:cNvSpPr>
            <a:spLocks noGrp="1"/>
          </p:cNvSpPr>
          <p:nvPr/>
        </p:nvSpPr>
        <p:spPr>
          <a:xfrm>
            <a:off x="8610600" y="5200650"/>
            <a:ext cx="1809750" cy="323850"/>
          </a:xfrm>
          <a:prstGeom prst="rect">
            <a:avLst/>
          </a:prstGeom>
          <a:noFill/>
          <a:ln w="0">
            <a:noFill/>
            <a:prstDash val="solid"/>
          </a:ln>
        </p:spPr>
        <p:txBody>
          <a:bodyPr anchor="t"/>
          <a:lstStyle/>
          <a:p>
            <a:pP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Publish</a:t>
            </a:r>
          </a:p>
        </p:txBody>
      </p:sp>
      <p:sp>
        <p:nvSpPr>
          <p:cNvPr id="17" name="step-03-body">
            <a:extLst>
              <a:ext uri="{FF2B5EF4-FFF2-40B4-BE49-F238E27FC236}">
                <a16:creationId xmlns:a16="http://schemas.microsoft.com/office/drawing/2014/main" id="{06A0B6F6-1B3E-48C4-A15C-91BFB61D9496}"/>
              </a:ext>
            </a:extLst>
          </p:cNvPr>
          <p:cNvSpPr>
            <a:spLocks noGrp="1"/>
          </p:cNvSpPr>
          <p:nvPr/>
        </p:nvSpPr>
        <p:spPr>
          <a:xfrm>
            <a:off x="8610600" y="5619750"/>
            <a:ext cx="2571750" cy="590550"/>
          </a:xfrm>
          <a:prstGeom prst="rect">
            <a:avLst/>
          </a:prstGeom>
          <a:noFill/>
          <a:ln w="0">
            <a:noFill/>
            <a:prstDash val="solid"/>
          </a:ln>
        </p:spPr>
        <p:txBody>
          <a:bodyPr anchor="t"/>
          <a:lstStyle/>
          <a:p>
            <a:pPr>
              <a:defRPr sz="1425">
                <a:solidFill>
                  <a:srgbClr val="565C65"/>
                </a:solidFill>
                <a:latin typeface="Helvetica Neue"/>
                <a:ea typeface="Helvetica Neue"/>
                <a:cs typeface="Helvetica Neue"/>
              </a:defRPr>
            </a:pPr>
            <a:r>
              <a:rPr sz="1425" dirty="0">
                <a:solidFill>
                  <a:srgbClr val="565C65"/>
                </a:solidFill>
                <a:latin typeface="Helvetica Neue"/>
                <a:ea typeface="Helvetica Neue"/>
                <a:cs typeface="Helvetica Neue"/>
              </a:rPr>
              <a:t>Generate one workbook per UC worksheet</a:t>
            </a:r>
            <a:r>
              <a:rPr lang="en-US" sz="1425" dirty="0">
                <a:solidFill>
                  <a:srgbClr val="565C65"/>
                </a:solidFill>
                <a:latin typeface="Helvetica Neue"/>
                <a:ea typeface="Helvetica Neue"/>
                <a:cs typeface="Helvetica Neue"/>
              </a:rPr>
              <a:t> for campus review</a:t>
            </a:r>
            <a:endParaRPr sz="1425" dirty="0">
              <a:solidFill>
                <a:srgbClr val="565C65"/>
              </a:solidFill>
              <a:latin typeface="Helvetica Neue"/>
              <a:ea typeface="Helvetica Neue"/>
              <a:cs typeface="Helvetica Neue"/>
            </a:endParaRPr>
          </a:p>
        </p:txBody>
      </p:sp>
    </p:spTree>
    <p:extLst>
      <p:ext uri="{BB962C8B-B14F-4D97-AF65-F5344CB8AC3E}">
        <p14:creationId xmlns:p14="http://schemas.microsoft.com/office/powerpoint/2010/main" val="1540803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close-eyebrow">
            <a:extLst>
              <a:ext uri="{FF2B5EF4-FFF2-40B4-BE49-F238E27FC236}">
                <a16:creationId xmlns:a16="http://schemas.microsoft.com/office/drawing/2014/main" id="{2AC43725-29F0-479A-898A-616498CC098A}"/>
              </a:ext>
            </a:extLst>
          </p:cNvPr>
          <p:cNvSpPr>
            <a:spLocks noGrp="1"/>
          </p:cNvSpPr>
          <p:nvPr/>
        </p:nvSpPr>
        <p:spPr>
          <a:xfrm>
            <a:off x="400050" y="400050"/>
            <a:ext cx="2857500" cy="361950"/>
          </a:xfrm>
          <a:prstGeom prst="rect">
            <a:avLst/>
          </a:prstGeom>
          <a:noFill/>
          <a:ln w="0">
            <a:noFill/>
            <a:prstDash val="solid"/>
          </a:ln>
        </p:spPr>
        <p:txBody>
          <a:bodyPr anchor="t"/>
          <a:lstStyle/>
          <a:p>
            <a:pPr>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THE TAKEAWAY</a:t>
            </a:r>
          </a:p>
        </p:txBody>
      </p:sp>
      <p:sp>
        <p:nvSpPr>
          <p:cNvPr id="2" name="close-title">
            <a:extLst>
              <a:ext uri="{FF2B5EF4-FFF2-40B4-BE49-F238E27FC236}">
                <a16:creationId xmlns:a16="http://schemas.microsoft.com/office/drawing/2014/main" id="{7211EADD-86E9-4B82-BACF-CE0B572B2DE6}"/>
              </a:ext>
            </a:extLst>
          </p:cNvPr>
          <p:cNvSpPr>
            <a:spLocks noGrp="1"/>
          </p:cNvSpPr>
          <p:nvPr/>
        </p:nvSpPr>
        <p:spPr>
          <a:xfrm>
            <a:off x="400050" y="1428750"/>
            <a:ext cx="8572500" cy="2857500"/>
          </a:xfrm>
          <a:prstGeom prst="rect">
            <a:avLst/>
          </a:prstGeom>
          <a:noFill/>
          <a:ln w="0">
            <a:noFill/>
            <a:prstDash val="solid"/>
          </a:ln>
        </p:spPr>
        <p:txBody>
          <a:bodyPr anchor="t"/>
          <a:lstStyle/>
          <a:p>
            <a:pPr>
              <a:defRPr sz="4800" b="1">
                <a:solidFill>
                  <a:srgbClr val="111111"/>
                </a:solidFill>
                <a:latin typeface="Helvetica Neue"/>
                <a:ea typeface="Helvetica Neue"/>
                <a:cs typeface="Helvetica Neue"/>
              </a:defRPr>
            </a:pPr>
            <a:r>
              <a:rPr lang="en-US" sz="4800" b="1" dirty="0"/>
              <a:t>Preserve the structure.</a:t>
            </a:r>
            <a:br>
              <a:rPr lang="en-US" sz="4800" b="1" dirty="0"/>
            </a:br>
            <a:r>
              <a:rPr lang="en-US" sz="4800" b="1" dirty="0"/>
              <a:t>Surface the relationships.</a:t>
            </a:r>
            <a:br>
              <a:rPr lang="en-US" sz="4800" b="1" dirty="0"/>
            </a:br>
            <a:r>
              <a:rPr lang="en-US" sz="4800" b="1" dirty="0"/>
              <a:t>Support human review.</a:t>
            </a:r>
            <a:endParaRPr sz="4800" b="1" dirty="0">
              <a:solidFill>
                <a:srgbClr val="111111"/>
              </a:solidFill>
              <a:latin typeface="Helvetica Neue"/>
              <a:ea typeface="Helvetica Neue"/>
              <a:cs typeface="Helvetica Neue"/>
            </a:endParaRPr>
          </a:p>
        </p:txBody>
      </p:sp>
      <p:sp>
        <p:nvSpPr>
          <p:cNvPr id="3" name="rule-42-494">
            <a:extLst>
              <a:ext uri="{FF2B5EF4-FFF2-40B4-BE49-F238E27FC236}">
                <a16:creationId xmlns:a16="http://schemas.microsoft.com/office/drawing/2014/main" id="{C8A7284E-128C-437D-8CB7-DD1A94CD3D64}"/>
              </a:ext>
            </a:extLst>
          </p:cNvPr>
          <p:cNvSpPr>
            <a:spLocks noGrp="1"/>
          </p:cNvSpPr>
          <p:nvPr/>
        </p:nvSpPr>
        <p:spPr>
          <a:xfrm>
            <a:off x="400050" y="4705350"/>
            <a:ext cx="11239500" cy="19050"/>
          </a:xfrm>
          <a:prstGeom prst="rect">
            <a:avLst/>
          </a:prstGeom>
          <a:solidFill>
            <a:srgbClr val="B8BCC4"/>
          </a:solidFill>
          <a:ln w="0">
            <a:noFill/>
            <a:prstDash val="solid"/>
          </a:ln>
        </p:spPr>
        <p:txBody>
          <a:bodyPr/>
          <a:lstStyle/>
          <a:p>
            <a:endParaRPr lang="en-US"/>
          </a:p>
        </p:txBody>
      </p:sp>
      <p:sp>
        <p:nvSpPr>
          <p:cNvPr id="4" name="close-Run-head">
            <a:extLst>
              <a:ext uri="{FF2B5EF4-FFF2-40B4-BE49-F238E27FC236}">
                <a16:creationId xmlns:a16="http://schemas.microsoft.com/office/drawing/2014/main" id="{1168B5E1-A9A1-4280-A165-31A0BF1D84AD}"/>
              </a:ext>
            </a:extLst>
          </p:cNvPr>
          <p:cNvSpPr>
            <a:spLocks noGrp="1"/>
          </p:cNvSpPr>
          <p:nvPr/>
        </p:nvSpPr>
        <p:spPr>
          <a:xfrm>
            <a:off x="400050" y="5105400"/>
            <a:ext cx="2857500" cy="381000"/>
          </a:xfrm>
          <a:prstGeom prst="rect">
            <a:avLst/>
          </a:prstGeom>
          <a:noFill/>
          <a:ln w="0">
            <a:noFill/>
            <a:prstDash val="solid"/>
          </a:ln>
        </p:spPr>
        <p:txBody>
          <a:bodyPr anchor="t"/>
          <a:lstStyle/>
          <a:p>
            <a:pP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Run</a:t>
            </a:r>
          </a:p>
        </p:txBody>
      </p:sp>
      <p:sp>
        <p:nvSpPr>
          <p:cNvPr id="5" name="close-Run-body">
            <a:extLst>
              <a:ext uri="{FF2B5EF4-FFF2-40B4-BE49-F238E27FC236}">
                <a16:creationId xmlns:a16="http://schemas.microsoft.com/office/drawing/2014/main" id="{DEE4E54C-EAC4-43CA-A00A-4275BFC23C31}"/>
              </a:ext>
            </a:extLst>
          </p:cNvPr>
          <p:cNvSpPr>
            <a:spLocks noGrp="1"/>
          </p:cNvSpPr>
          <p:nvPr/>
        </p:nvSpPr>
        <p:spPr>
          <a:xfrm>
            <a:off x="400050" y="5543550"/>
            <a:ext cx="3143250" cy="47625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Parse a new .catalog archive</a:t>
            </a:r>
          </a:p>
        </p:txBody>
      </p:sp>
      <p:sp>
        <p:nvSpPr>
          <p:cNvPr id="6" name="close-Review-head">
            <a:extLst>
              <a:ext uri="{FF2B5EF4-FFF2-40B4-BE49-F238E27FC236}">
                <a16:creationId xmlns:a16="http://schemas.microsoft.com/office/drawing/2014/main" id="{6F4D1E4A-0705-4E84-BF81-14D5636B1EFB}"/>
              </a:ext>
            </a:extLst>
          </p:cNvPr>
          <p:cNvSpPr>
            <a:spLocks noGrp="1"/>
          </p:cNvSpPr>
          <p:nvPr/>
        </p:nvSpPr>
        <p:spPr>
          <a:xfrm>
            <a:off x="4095750" y="5105400"/>
            <a:ext cx="2857500" cy="381000"/>
          </a:xfrm>
          <a:prstGeom prst="rect">
            <a:avLst/>
          </a:prstGeom>
          <a:noFill/>
          <a:ln w="0">
            <a:noFill/>
            <a:prstDash val="solid"/>
          </a:ln>
        </p:spPr>
        <p:txBody>
          <a:bodyPr anchor="t"/>
          <a:lstStyle/>
          <a:p>
            <a:pP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Review</a:t>
            </a:r>
          </a:p>
        </p:txBody>
      </p:sp>
      <p:sp>
        <p:nvSpPr>
          <p:cNvPr id="7" name="close-Review-body">
            <a:extLst>
              <a:ext uri="{FF2B5EF4-FFF2-40B4-BE49-F238E27FC236}">
                <a16:creationId xmlns:a16="http://schemas.microsoft.com/office/drawing/2014/main" id="{36B80BB9-B90D-4D97-A0D7-2F5AA090035C}"/>
              </a:ext>
            </a:extLst>
          </p:cNvPr>
          <p:cNvSpPr>
            <a:spLocks noGrp="1"/>
          </p:cNvSpPr>
          <p:nvPr/>
        </p:nvSpPr>
        <p:spPr>
          <a:xfrm>
            <a:off x="4095750" y="5543550"/>
            <a:ext cx="3143250" cy="47625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Check rules and unresolved references</a:t>
            </a:r>
          </a:p>
        </p:txBody>
      </p:sp>
      <p:sp>
        <p:nvSpPr>
          <p:cNvPr id="8" name="close-Publish-head">
            <a:extLst>
              <a:ext uri="{FF2B5EF4-FFF2-40B4-BE49-F238E27FC236}">
                <a16:creationId xmlns:a16="http://schemas.microsoft.com/office/drawing/2014/main" id="{4D4E9FF8-0443-4868-9FC2-8E0A88C8CA01}"/>
              </a:ext>
            </a:extLst>
          </p:cNvPr>
          <p:cNvSpPr>
            <a:spLocks noGrp="1"/>
          </p:cNvSpPr>
          <p:nvPr/>
        </p:nvSpPr>
        <p:spPr>
          <a:xfrm>
            <a:off x="7791450" y="5105400"/>
            <a:ext cx="2857500" cy="381000"/>
          </a:xfrm>
          <a:prstGeom prst="rect">
            <a:avLst/>
          </a:prstGeom>
          <a:noFill/>
          <a:ln w="0">
            <a:noFill/>
            <a:prstDash val="solid"/>
          </a:ln>
        </p:spPr>
        <p:txBody>
          <a:bodyPr anchor="t"/>
          <a:lstStyle/>
          <a:p>
            <a:pP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Publish</a:t>
            </a:r>
          </a:p>
        </p:txBody>
      </p:sp>
      <p:sp>
        <p:nvSpPr>
          <p:cNvPr id="9" name="close-Publish-body">
            <a:extLst>
              <a:ext uri="{FF2B5EF4-FFF2-40B4-BE49-F238E27FC236}">
                <a16:creationId xmlns:a16="http://schemas.microsoft.com/office/drawing/2014/main" id="{020FAA90-6F6B-40CD-B48F-A192DF6CD486}"/>
              </a:ext>
            </a:extLst>
          </p:cNvPr>
          <p:cNvSpPr>
            <a:spLocks noGrp="1"/>
          </p:cNvSpPr>
          <p:nvPr/>
        </p:nvSpPr>
        <p:spPr>
          <a:xfrm>
            <a:off x="7791450" y="5543550"/>
            <a:ext cx="3143250" cy="476250"/>
          </a:xfrm>
          <a:prstGeom prst="rect">
            <a:avLst/>
          </a:prstGeom>
          <a:noFill/>
          <a:ln w="0">
            <a:noFill/>
            <a:prstDash val="solid"/>
          </a:ln>
        </p:spPr>
        <p:txBody>
          <a:bodyPr anchor="t"/>
          <a:lstStyle/>
          <a:p>
            <a:pPr>
              <a:defRPr sz="1500">
                <a:solidFill>
                  <a:srgbClr val="565C65"/>
                </a:solidFill>
                <a:latin typeface="Helvetica Neue"/>
                <a:ea typeface="Helvetica Neue"/>
                <a:cs typeface="Helvetica Neue"/>
              </a:defRPr>
            </a:pPr>
            <a:r>
              <a:rPr sz="1500">
                <a:solidFill>
                  <a:srgbClr val="565C65"/>
                </a:solidFill>
                <a:latin typeface="Helvetica Neue"/>
                <a:ea typeface="Helvetica Neue"/>
                <a:cs typeface="Helvetica Neue"/>
              </a:rPr>
              <a:t>Create campus-specific workbooks</a:t>
            </a:r>
          </a:p>
        </p:txBody>
      </p:sp>
      <p:pic>
        <p:nvPicPr>
          <p:cNvPr id="11" name="Picture 10">
            <a:extLst>
              <a:ext uri="{FF2B5EF4-FFF2-40B4-BE49-F238E27FC236}">
                <a16:creationId xmlns:a16="http://schemas.microsoft.com/office/drawing/2014/main" id="{062762B8-5990-4E6C-93A5-D3A19167EC03}"/>
              </a:ext>
              <a:ext uri="{C183D7F6-B498-43B3-948B-1728B52AA6E4}">
                <adec:decorative xmlns:adec="http://schemas.microsoft.com/office/drawing/2017/decorative" val="1"/>
              </a:ext>
            </a:extLst>
          </p:cNvPr>
          <p:cNvPicPr>
            <a:picLocks noChangeAspect="1"/>
          </p:cNvPicPr>
          <p:nvPr/>
        </p:nvPicPr>
        <p:blipFill>
          <a:blip r:embed="rId3"/>
          <a:srcRect l="5423" b="7181"/>
          <a:stretch>
            <a:fillRect/>
          </a:stretch>
        </p:blipFill>
        <p:spPr>
          <a:xfrm>
            <a:off x="8439384" y="2134720"/>
            <a:ext cx="3200166" cy="2513480"/>
          </a:xfrm>
          <a:prstGeom prst="rect">
            <a:avLst/>
          </a:prstGeom>
        </p:spPr>
      </p:pic>
    </p:spTree>
    <p:extLst>
      <p:ext uri="{BB962C8B-B14F-4D97-AF65-F5344CB8AC3E}">
        <p14:creationId xmlns:p14="http://schemas.microsoft.com/office/powerpoint/2010/main" val="72360947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346</TotalTime>
  <Words>1976</Words>
  <Application>Microsoft Macintosh PowerPoint</Application>
  <DocSecurity>0</DocSecurity>
  <PresentationFormat>Widescreen</PresentationFormat>
  <Paragraphs>132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Kristen Chua</cp:lastModifiedBy>
  <cp:revision>2</cp:revision>
  <dcterms:created xsi:type="dcterms:W3CDTF">2026-08-11T22:10:54Z</dcterms:created>
  <dcterms:modified xsi:type="dcterms:W3CDTF">2026-08-12T05:51:10Z</dcterms:modified>
</cp:coreProperties>
</file>